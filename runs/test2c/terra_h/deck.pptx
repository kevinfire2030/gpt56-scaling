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Aurora Kit 출시 후 6주 성과를 보고드립니다. 핵심은 초기 수요가 예상보다 강하다는 점입니다. 다만 채널별 수익성과 재고 회전의 편차가 커서, 오늘은 다음 분기 마케팅 예산 8억 원의 재배분 방향에 대한 결정을 요청드리겠습니다.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45초] 발표는 세 부분으로 진행합니다. 먼저 핵심 성과를 숫자로 확인하고, 이어 고객과 채널에서 얻은 시사점을 보겠습니다. 마지막으로 실행 리스크를 짚고, 다음 분기에 대한 의사결정 요청을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75초] 6주 누적 판매량은 12,400대로 목표를 18% 초과했습니다. 웹사이트 방문 대비 구매 전환율은 4.2%, 반품률은 1.9%입니다. 이 네 지표를 함께 보면 초기 관심이 실제 구매로 이어지고 있으며, 제품 경험의 초기 품질 신호도 안정적이라는 판단입니다.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75초] 채널별 상세 수익성과 재고 회전 수치는 현재 브리프에 포함되어 있지 않습니다. 따라서 이를 새로 추정하지 않고, 의사결정의 원칙을 분명히 하겠습니다. 2차 캠페인은 판매 규모 자체보다 채널별 수익성과 회전이 검증된 곳에 투자하고, 주간 단위로 기준을 재점검해야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기업 고객 대상 재구매 의향 조사에는 61개 고객이 응답했습니다. 이 숫자만으로 재구매 규모를 단정하지는 않겠습니다. 대신 다음 분기에는 이 응답 기반으로 실제 재구매 전환 조건을 확인하고, 검증된 조건을 고효율 채널 운영에 연결하겠습니다.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반품률은 1.9%로, 현재 시점에서는 제품 경험 측면의 초기 모니터링 신호로 보겠습니다. 다만 수요 확대를 바로 넓히기보다, 채널별 수익성 기준과 재고 회전을 주간 단위로 관리해야 합니다. 성과를 유지하는 운영의 초점은 이 세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75초] 중요한 확인 사항입니다. 영업팀 주간 보고 기준 누적 매출은 3억 원이고, 재무팀 마감 기준은 3.4억 원입니다. 두 수치는 불일치합니다. 오늘 이 차이를 해석하거나 하나를 선택하지 않겠습니다. 다음 분기 예산 집행 전에 정산 기준과 시점을 단일화해 검증하는 과제로 명확히 남기겠습니다.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75초] 의사결정 요청은 다음 분기 추가 마케팅 예산 8억 원입니다. 단순한 확장 예산이 아니라, 고효율 채널에 재배분하고 재고 회전을 주간 관리하는 조건부 실행안입니다. 동시에 매출 기준의 불일치를 해소해 투자 판단의 기반을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정리하겠습니다. Aurora Kit은 출시 6주 만에 목표를 상회하는 수요를 확인했습니다. 다음 단계는 더 넓게 쓰는 것이 아니라 더 효율적으로 쓰는 것입니다. 8억 원의 추가 마케팅 예산을 고효율 채널에 재배분하고, 회전과 매출 기준을 통제하는 실행안을 승인해 주시길 요청드립니다.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658368"/>
            <a:ext cx="105156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05840"/>
            <a:ext cx="4572000" cy="365760"/>
          </a:xfrm>
          <a:prstGeom prst="rect">
            <a:avLst/>
          </a:prstGeom>
          <a:noFill/>
        </p:spPr>
        <p:txBody>
          <a:bodyPr wrap="square" lIns="36576" rIns="36576" tIns="36576" bIns="36576" anchor="t">
            <a:spAutoFit/>
          </a:bodyPr>
          <a:lstStyle/>
          <a:p>
            <a:pPr algn="l"/>
            <a:r>
              <a:rPr sz="1400" b="1">
                <a:solidFill>
                  <a:srgbClr val="F5A623"/>
                </a:solidFill>
                <a:latin typeface="Aptos"/>
              </a:rPr>
              <a:t>AURORA KIT</a:t>
            </a:r>
          </a:p>
        </p:txBody>
      </p:sp>
      <p:sp>
        <p:nvSpPr>
          <p:cNvPr id="5" name="TextBox 4"/>
          <p:cNvSpPr txBox="1"/>
          <p:nvPr/>
        </p:nvSpPr>
        <p:spPr>
          <a:xfrm>
            <a:off x="603504" y="1508760"/>
            <a:ext cx="8046720" cy="713232"/>
          </a:xfrm>
          <a:prstGeom prst="rect">
            <a:avLst/>
          </a:prstGeom>
          <a:noFill/>
        </p:spPr>
        <p:txBody>
          <a:bodyPr wrap="square" lIns="36576" rIns="36576" tIns="36576" bIns="36576" anchor="t">
            <a:spAutoFit/>
          </a:bodyPr>
          <a:lstStyle/>
          <a:p>
            <a:pPr algn="l"/>
            <a:r>
              <a:rPr sz="3400" b="1">
                <a:solidFill>
                  <a:srgbClr val="FFFFFF"/>
                </a:solidFill>
                <a:latin typeface="Aptos"/>
              </a:rPr>
              <a:t>출시 6주 성과 보고</a:t>
            </a:r>
          </a:p>
        </p:txBody>
      </p:sp>
      <p:sp>
        <p:nvSpPr>
          <p:cNvPr id="6" name="TextBox 5"/>
          <p:cNvSpPr txBox="1"/>
          <p:nvPr/>
        </p:nvSpPr>
        <p:spPr>
          <a:xfrm>
            <a:off x="640080" y="2395728"/>
            <a:ext cx="7955279" cy="365760"/>
          </a:xfrm>
          <a:prstGeom prst="rect">
            <a:avLst/>
          </a:prstGeom>
          <a:noFill/>
        </p:spPr>
        <p:txBody>
          <a:bodyPr wrap="square" lIns="36576" rIns="36576" tIns="36576" bIns="36576" anchor="t">
            <a:spAutoFit/>
          </a:bodyPr>
          <a:lstStyle/>
          <a:p>
            <a:pPr algn="l"/>
            <a:r>
              <a:rPr sz="1700" b="0">
                <a:solidFill>
                  <a:srgbClr val="D8E1F0"/>
                </a:solidFill>
                <a:latin typeface="Aptos"/>
              </a:rPr>
              <a:t>초기 수요는 강력합니다. 다음 분기는 효율 중심으로 재배분합니다.</a:t>
            </a:r>
          </a:p>
        </p:txBody>
      </p:sp>
      <p:sp>
        <p:nvSpPr>
          <p:cNvPr id="7" name="Rounded Rectangle 6"/>
          <p:cNvSpPr/>
          <p:nvPr/>
        </p:nvSpPr>
        <p:spPr>
          <a:xfrm>
            <a:off x="621792" y="3977639"/>
            <a:ext cx="4389120" cy="1234440"/>
          </a:xfrm>
          <a:prstGeom prst="roundRect">
            <a:avLst/>
          </a:prstGeom>
          <a:solidFill>
            <a:srgbClr val="24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242816"/>
            <a:ext cx="3931920" cy="246888"/>
          </a:xfrm>
          <a:prstGeom prst="rect">
            <a:avLst/>
          </a:prstGeom>
          <a:noFill/>
        </p:spPr>
        <p:txBody>
          <a:bodyPr wrap="square" lIns="36576" rIns="36576" tIns="36576" bIns="36576" anchor="t">
            <a:spAutoFit/>
          </a:bodyPr>
          <a:lstStyle/>
          <a:p>
            <a:pPr algn="l"/>
            <a:r>
              <a:rPr sz="1300" b="1">
                <a:solidFill>
                  <a:srgbClr val="FFFFFF"/>
                </a:solidFill>
                <a:latin typeface="Aptos"/>
              </a:rPr>
              <a:t>경영진 회의  |  다음 분기 실행 결정 요청</a:t>
            </a:r>
          </a:p>
        </p:txBody>
      </p:sp>
      <p:sp>
        <p:nvSpPr>
          <p:cNvPr id="9" name="TextBox 8"/>
          <p:cNvSpPr txBox="1"/>
          <p:nvPr/>
        </p:nvSpPr>
        <p:spPr>
          <a:xfrm>
            <a:off x="868680" y="4617720"/>
            <a:ext cx="3749039" cy="201168"/>
          </a:xfrm>
          <a:prstGeom prst="rect">
            <a:avLst/>
          </a:prstGeom>
          <a:noFill/>
        </p:spPr>
        <p:txBody>
          <a:bodyPr wrap="square" lIns="36576" rIns="36576" tIns="36576" bIns="36576" anchor="t">
            <a:spAutoFit/>
          </a:bodyPr>
          <a:lstStyle/>
          <a:p>
            <a:pPr algn="l"/>
            <a:r>
              <a:rPr sz="1100" b="0">
                <a:solidFill>
                  <a:srgbClr val="D8E1F0"/>
                </a:solidFill>
                <a:latin typeface="Aptos"/>
              </a:rPr>
              <a:t>보고 기준: 출시 후 6주</a:t>
            </a:r>
          </a:p>
        </p:txBody>
      </p:sp>
      <p:sp>
        <p:nvSpPr>
          <p:cNvPr id="10" name="TextBox 9"/>
          <p:cNvSpPr txBox="1"/>
          <p:nvPr/>
        </p:nvSpPr>
        <p:spPr>
          <a:xfrm>
            <a:off x="640080" y="6291072"/>
            <a:ext cx="4023360" cy="164592"/>
          </a:xfrm>
          <a:prstGeom prst="rect">
            <a:avLst/>
          </a:prstGeom>
          <a:noFill/>
        </p:spPr>
        <p:txBody>
          <a:bodyPr wrap="square" lIns="36576" rIns="36576" tIns="36576" bIns="36576" anchor="t">
            <a:spAutoFit/>
          </a:bodyPr>
          <a:lstStyle/>
          <a:p>
            <a:pPr algn="l"/>
            <a:r>
              <a:rPr sz="900" b="1">
                <a:solidFill>
                  <a:srgbClr val="A7B8D3"/>
                </a:solidFill>
                <a:latin typeface="Aptos"/>
              </a:rPr>
              <a:t>CONFIDENTIAL  ·  MANAGEMENT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01  |  개요</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오늘의 결론과 의사결정</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10분: 성과 → 고객·채널 시사점 → 리스크 → 요청사항</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02</a:t>
            </a:r>
          </a:p>
        </p:txBody>
      </p:sp>
      <p:sp>
        <p:nvSpPr>
          <p:cNvPr id="7" name="Rounded Rectangle 6"/>
          <p:cNvSpPr/>
          <p:nvPr/>
        </p:nvSpPr>
        <p:spPr>
          <a:xfrm>
            <a:off x="731520" y="2057400"/>
            <a:ext cx="3273552" cy="21488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331720"/>
            <a:ext cx="502920" cy="246888"/>
          </a:xfrm>
          <a:prstGeom prst="rect">
            <a:avLst/>
          </a:prstGeom>
          <a:noFill/>
        </p:spPr>
        <p:txBody>
          <a:bodyPr wrap="square" lIns="36576" rIns="36576" tIns="36576" bIns="36576" anchor="t">
            <a:spAutoFit/>
          </a:bodyPr>
          <a:lstStyle/>
          <a:p>
            <a:pPr algn="l"/>
            <a:r>
              <a:rPr sz="1300" b="1">
                <a:solidFill>
                  <a:srgbClr val="F5A623"/>
                </a:solidFill>
                <a:latin typeface="Aptos"/>
              </a:rPr>
              <a:t>01</a:t>
            </a:r>
          </a:p>
        </p:txBody>
      </p:sp>
      <p:sp>
        <p:nvSpPr>
          <p:cNvPr id="9" name="TextBox 8"/>
          <p:cNvSpPr txBox="1"/>
          <p:nvPr/>
        </p:nvSpPr>
        <p:spPr>
          <a:xfrm>
            <a:off x="987552" y="2788920"/>
            <a:ext cx="2651760" cy="347472"/>
          </a:xfrm>
          <a:prstGeom prst="rect">
            <a:avLst/>
          </a:prstGeom>
          <a:noFill/>
        </p:spPr>
        <p:txBody>
          <a:bodyPr wrap="square" lIns="36576" rIns="36576" tIns="36576" bIns="36576" anchor="t">
            <a:spAutoFit/>
          </a:bodyPr>
          <a:lstStyle/>
          <a:p>
            <a:pPr algn="l"/>
            <a:r>
              <a:rPr sz="2000" b="1">
                <a:solidFill>
                  <a:srgbClr val="1B2A4A"/>
                </a:solidFill>
                <a:latin typeface="Aptos"/>
              </a:rPr>
              <a:t>출시 성과</a:t>
            </a:r>
          </a:p>
        </p:txBody>
      </p:sp>
      <p:sp>
        <p:nvSpPr>
          <p:cNvPr id="10" name="TextBox 9"/>
          <p:cNvSpPr txBox="1"/>
          <p:nvPr/>
        </p:nvSpPr>
        <p:spPr>
          <a:xfrm>
            <a:off x="987552" y="3337560"/>
            <a:ext cx="2697480" cy="438912"/>
          </a:xfrm>
          <a:prstGeom prst="rect">
            <a:avLst/>
          </a:prstGeom>
          <a:noFill/>
        </p:spPr>
        <p:txBody>
          <a:bodyPr wrap="square" lIns="36576" rIns="36576" tIns="36576" bIns="36576" anchor="t">
            <a:spAutoFit/>
          </a:bodyPr>
          <a:lstStyle/>
          <a:p>
            <a:pPr algn="l"/>
            <a:r>
              <a:rPr sz="1300" b="0">
                <a:solidFill>
                  <a:srgbClr val="5C6678"/>
                </a:solidFill>
                <a:latin typeface="Aptos"/>
              </a:rPr>
              <a:t>판매·전환·품질의 핵심 지표</a:t>
            </a:r>
          </a:p>
        </p:txBody>
      </p:sp>
      <p:sp>
        <p:nvSpPr>
          <p:cNvPr id="11" name="Rounded Rectangle 10"/>
          <p:cNvSpPr/>
          <p:nvPr/>
        </p:nvSpPr>
        <p:spPr>
          <a:xfrm>
            <a:off x="4498848" y="2057400"/>
            <a:ext cx="3273552" cy="21488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2331720"/>
            <a:ext cx="502920" cy="246888"/>
          </a:xfrm>
          <a:prstGeom prst="rect">
            <a:avLst/>
          </a:prstGeom>
          <a:noFill/>
        </p:spPr>
        <p:txBody>
          <a:bodyPr wrap="square" lIns="36576" rIns="36576" tIns="36576" bIns="36576" anchor="t">
            <a:spAutoFit/>
          </a:bodyPr>
          <a:lstStyle/>
          <a:p>
            <a:pPr algn="l"/>
            <a:r>
              <a:rPr sz="1300" b="1">
                <a:solidFill>
                  <a:srgbClr val="F5A623"/>
                </a:solidFill>
                <a:latin typeface="Aptos"/>
              </a:rPr>
              <a:t>02</a:t>
            </a:r>
          </a:p>
        </p:txBody>
      </p:sp>
      <p:sp>
        <p:nvSpPr>
          <p:cNvPr id="13" name="TextBox 12"/>
          <p:cNvSpPr txBox="1"/>
          <p:nvPr/>
        </p:nvSpPr>
        <p:spPr>
          <a:xfrm>
            <a:off x="4754880" y="2788920"/>
            <a:ext cx="2651760" cy="347472"/>
          </a:xfrm>
          <a:prstGeom prst="rect">
            <a:avLst/>
          </a:prstGeom>
          <a:noFill/>
        </p:spPr>
        <p:txBody>
          <a:bodyPr wrap="square" lIns="36576" rIns="36576" tIns="36576" bIns="36576" anchor="t">
            <a:spAutoFit/>
          </a:bodyPr>
          <a:lstStyle/>
          <a:p>
            <a:pPr algn="l"/>
            <a:r>
              <a:rPr sz="2000" b="1">
                <a:solidFill>
                  <a:srgbClr val="1B2A4A"/>
                </a:solidFill>
                <a:latin typeface="Aptos"/>
              </a:rPr>
              <a:t>무엇을 배웠나</a:t>
            </a:r>
          </a:p>
        </p:txBody>
      </p:sp>
      <p:sp>
        <p:nvSpPr>
          <p:cNvPr id="14" name="TextBox 13"/>
          <p:cNvSpPr txBox="1"/>
          <p:nvPr/>
        </p:nvSpPr>
        <p:spPr>
          <a:xfrm>
            <a:off x="4754880" y="3337560"/>
            <a:ext cx="2697480" cy="438912"/>
          </a:xfrm>
          <a:prstGeom prst="rect">
            <a:avLst/>
          </a:prstGeom>
          <a:noFill/>
        </p:spPr>
        <p:txBody>
          <a:bodyPr wrap="square" lIns="36576" rIns="36576" tIns="36576" bIns="36576" anchor="t">
            <a:spAutoFit/>
          </a:bodyPr>
          <a:lstStyle/>
          <a:p>
            <a:pPr algn="l"/>
            <a:r>
              <a:rPr sz="1300" b="0">
                <a:solidFill>
                  <a:srgbClr val="5C6678"/>
                </a:solidFill>
                <a:latin typeface="Aptos"/>
              </a:rPr>
              <a:t>고객 반응과 채널 운영 시사점</a:t>
            </a:r>
          </a:p>
        </p:txBody>
      </p:sp>
      <p:sp>
        <p:nvSpPr>
          <p:cNvPr id="15" name="Rounded Rectangle 14"/>
          <p:cNvSpPr/>
          <p:nvPr/>
        </p:nvSpPr>
        <p:spPr>
          <a:xfrm>
            <a:off x="8266176" y="2057400"/>
            <a:ext cx="3273552" cy="21488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22208" y="2331720"/>
            <a:ext cx="502920" cy="246888"/>
          </a:xfrm>
          <a:prstGeom prst="rect">
            <a:avLst/>
          </a:prstGeom>
          <a:noFill/>
        </p:spPr>
        <p:txBody>
          <a:bodyPr wrap="square" lIns="36576" rIns="36576" tIns="36576" bIns="36576" anchor="t">
            <a:spAutoFit/>
          </a:bodyPr>
          <a:lstStyle/>
          <a:p>
            <a:pPr algn="l"/>
            <a:r>
              <a:rPr sz="1300" b="1">
                <a:solidFill>
                  <a:srgbClr val="F5A623"/>
                </a:solidFill>
                <a:latin typeface="Aptos"/>
              </a:rPr>
              <a:t>03</a:t>
            </a:r>
          </a:p>
        </p:txBody>
      </p:sp>
      <p:sp>
        <p:nvSpPr>
          <p:cNvPr id="17" name="TextBox 16"/>
          <p:cNvSpPr txBox="1"/>
          <p:nvPr/>
        </p:nvSpPr>
        <p:spPr>
          <a:xfrm>
            <a:off x="8522208" y="2788920"/>
            <a:ext cx="2651760" cy="347472"/>
          </a:xfrm>
          <a:prstGeom prst="rect">
            <a:avLst/>
          </a:prstGeom>
          <a:noFill/>
        </p:spPr>
        <p:txBody>
          <a:bodyPr wrap="square" lIns="36576" rIns="36576" tIns="36576" bIns="36576" anchor="t">
            <a:spAutoFit/>
          </a:bodyPr>
          <a:lstStyle/>
          <a:p>
            <a:pPr algn="l"/>
            <a:r>
              <a:rPr sz="2000" b="1">
                <a:solidFill>
                  <a:srgbClr val="1B2A4A"/>
                </a:solidFill>
                <a:latin typeface="Aptos"/>
              </a:rPr>
              <a:t>무엇을 결정할까</a:t>
            </a:r>
          </a:p>
        </p:txBody>
      </p:sp>
      <p:sp>
        <p:nvSpPr>
          <p:cNvPr id="18" name="TextBox 17"/>
          <p:cNvSpPr txBox="1"/>
          <p:nvPr/>
        </p:nvSpPr>
        <p:spPr>
          <a:xfrm>
            <a:off x="8522208" y="3337560"/>
            <a:ext cx="2697480" cy="438912"/>
          </a:xfrm>
          <a:prstGeom prst="rect">
            <a:avLst/>
          </a:prstGeom>
          <a:noFill/>
        </p:spPr>
        <p:txBody>
          <a:bodyPr wrap="square" lIns="36576" rIns="36576" tIns="36576" bIns="36576" anchor="t">
            <a:spAutoFit/>
          </a:bodyPr>
          <a:lstStyle/>
          <a:p>
            <a:pPr algn="l"/>
            <a:r>
              <a:rPr sz="1300" b="0">
                <a:solidFill>
                  <a:srgbClr val="5C6678"/>
                </a:solidFill>
                <a:latin typeface="Aptos"/>
              </a:rPr>
              <a:t>고효율 채널 중심의 예산 재배분</a:t>
            </a:r>
          </a:p>
        </p:txBody>
      </p:sp>
      <p:sp>
        <p:nvSpPr>
          <p:cNvPr id="19" name="TextBox 18"/>
          <p:cNvSpPr txBox="1"/>
          <p:nvPr/>
        </p:nvSpPr>
        <p:spPr>
          <a:xfrm>
            <a:off x="749808" y="4892040"/>
            <a:ext cx="10607040" cy="384048"/>
          </a:xfrm>
          <a:prstGeom prst="rect">
            <a:avLst/>
          </a:prstGeom>
          <a:noFill/>
        </p:spPr>
        <p:txBody>
          <a:bodyPr wrap="square" lIns="36576" rIns="36576" tIns="36576" bIns="36576" anchor="t">
            <a:spAutoFit/>
          </a:bodyPr>
          <a:lstStyle/>
          <a:p>
            <a:pPr algn="l"/>
            <a:r>
              <a:rPr sz="1800" b="1">
                <a:solidFill>
                  <a:srgbClr val="1B2A4A"/>
                </a:solidFill>
                <a:latin typeface="Aptos"/>
              </a:rPr>
              <a:t>결론  |  수요 모멘텀은 유지하되, 투자 기준을 “확장”에서 “효율·회전”으로 전환합니다.</a:t>
            </a:r>
          </a:p>
        </p:txBody>
      </p:sp>
      <p:sp>
        <p:nvSpPr>
          <p:cNvPr id="20" name="Rectangle 19"/>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02  |  출시 성과</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핵심 지표는 초기 수요의 강도를 보여줍니다</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목표 초과 판매, 전환, 반품률을 한 화면에서 확인</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03</a:t>
            </a:r>
          </a:p>
        </p:txBody>
      </p:sp>
      <p:sp>
        <p:nvSpPr>
          <p:cNvPr id="7" name="Rounded Rectangle 6"/>
          <p:cNvSpPr/>
          <p:nvPr/>
        </p:nvSpPr>
        <p:spPr>
          <a:xfrm>
            <a:off x="658368" y="1938528"/>
            <a:ext cx="2651760" cy="16916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38528"/>
            <a:ext cx="64008"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167128"/>
            <a:ext cx="2240279" cy="502920"/>
          </a:xfrm>
          <a:prstGeom prst="rect">
            <a:avLst/>
          </a:prstGeom>
          <a:noFill/>
        </p:spPr>
        <p:txBody>
          <a:bodyPr wrap="square" lIns="36576" rIns="36576" tIns="36576" bIns="36576" anchor="t">
            <a:spAutoFit/>
          </a:bodyPr>
          <a:lstStyle/>
          <a:p>
            <a:pPr algn="l"/>
            <a:r>
              <a:rPr sz="2800" b="1">
                <a:solidFill>
                  <a:srgbClr val="1B2A4A"/>
                </a:solidFill>
                <a:latin typeface="Aptos"/>
              </a:rPr>
              <a:t>12,400대</a:t>
            </a:r>
          </a:p>
        </p:txBody>
      </p:sp>
      <p:sp>
        <p:nvSpPr>
          <p:cNvPr id="10" name="TextBox 9"/>
          <p:cNvSpPr txBox="1"/>
          <p:nvPr/>
        </p:nvSpPr>
        <p:spPr>
          <a:xfrm>
            <a:off x="886968" y="2807208"/>
            <a:ext cx="2286000" cy="320040"/>
          </a:xfrm>
          <a:prstGeom prst="rect">
            <a:avLst/>
          </a:prstGeom>
          <a:noFill/>
        </p:spPr>
        <p:txBody>
          <a:bodyPr wrap="square" lIns="36576" rIns="36576" tIns="36576" bIns="36576" anchor="t">
            <a:spAutoFit/>
          </a:bodyPr>
          <a:lstStyle/>
          <a:p>
            <a:pPr algn="l"/>
            <a:r>
              <a:rPr sz="1200" b="1">
                <a:solidFill>
                  <a:srgbClr val="22222A"/>
                </a:solidFill>
                <a:latin typeface="Aptos"/>
              </a:rPr>
              <a:t>출시 후 6주 누적 판매량</a:t>
            </a:r>
          </a:p>
        </p:txBody>
      </p:sp>
      <p:sp>
        <p:nvSpPr>
          <p:cNvPr id="11" name="Rounded Rectangle 10"/>
          <p:cNvSpPr/>
          <p:nvPr/>
        </p:nvSpPr>
        <p:spPr>
          <a:xfrm>
            <a:off x="3511296" y="1938528"/>
            <a:ext cx="2651760" cy="16916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1938528"/>
            <a:ext cx="64008"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9896" y="2167128"/>
            <a:ext cx="2240279" cy="502920"/>
          </a:xfrm>
          <a:prstGeom prst="rect">
            <a:avLst/>
          </a:prstGeom>
          <a:noFill/>
        </p:spPr>
        <p:txBody>
          <a:bodyPr wrap="square" lIns="36576" rIns="36576" tIns="36576" bIns="36576" anchor="t">
            <a:spAutoFit/>
          </a:bodyPr>
          <a:lstStyle/>
          <a:p>
            <a:pPr algn="l"/>
            <a:r>
              <a:rPr sz="2800" b="1">
                <a:solidFill>
                  <a:srgbClr val="1B2A4A"/>
                </a:solidFill>
                <a:latin typeface="Aptos"/>
              </a:rPr>
              <a:t>18%</a:t>
            </a:r>
          </a:p>
        </p:txBody>
      </p:sp>
      <p:sp>
        <p:nvSpPr>
          <p:cNvPr id="14" name="TextBox 13"/>
          <p:cNvSpPr txBox="1"/>
          <p:nvPr/>
        </p:nvSpPr>
        <p:spPr>
          <a:xfrm>
            <a:off x="3739896" y="2807208"/>
            <a:ext cx="2286000" cy="320040"/>
          </a:xfrm>
          <a:prstGeom prst="rect">
            <a:avLst/>
          </a:prstGeom>
          <a:noFill/>
        </p:spPr>
        <p:txBody>
          <a:bodyPr wrap="square" lIns="36576" rIns="36576" tIns="36576" bIns="36576" anchor="t">
            <a:spAutoFit/>
          </a:bodyPr>
          <a:lstStyle/>
          <a:p>
            <a:pPr algn="l"/>
            <a:r>
              <a:rPr sz="1200" b="1">
                <a:solidFill>
                  <a:srgbClr val="22222A"/>
                </a:solidFill>
                <a:latin typeface="Aptos"/>
              </a:rPr>
              <a:t>목표 대비 판매 초과율</a:t>
            </a:r>
          </a:p>
        </p:txBody>
      </p:sp>
      <p:sp>
        <p:nvSpPr>
          <p:cNvPr id="15" name="Rounded Rectangle 14"/>
          <p:cNvSpPr/>
          <p:nvPr/>
        </p:nvSpPr>
        <p:spPr>
          <a:xfrm>
            <a:off x="6364224" y="1938528"/>
            <a:ext cx="2651760" cy="16916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64224" y="1938528"/>
            <a:ext cx="64008"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2167128"/>
            <a:ext cx="2240279" cy="502920"/>
          </a:xfrm>
          <a:prstGeom prst="rect">
            <a:avLst/>
          </a:prstGeom>
          <a:noFill/>
        </p:spPr>
        <p:txBody>
          <a:bodyPr wrap="square" lIns="36576" rIns="36576" tIns="36576" bIns="36576" anchor="t">
            <a:spAutoFit/>
          </a:bodyPr>
          <a:lstStyle/>
          <a:p>
            <a:pPr algn="l"/>
            <a:r>
              <a:rPr sz="2800" b="1">
                <a:solidFill>
                  <a:srgbClr val="1B2A4A"/>
                </a:solidFill>
                <a:latin typeface="Aptos"/>
              </a:rPr>
              <a:t>4.2%</a:t>
            </a:r>
          </a:p>
        </p:txBody>
      </p:sp>
      <p:sp>
        <p:nvSpPr>
          <p:cNvPr id="18" name="TextBox 17"/>
          <p:cNvSpPr txBox="1"/>
          <p:nvPr/>
        </p:nvSpPr>
        <p:spPr>
          <a:xfrm>
            <a:off x="6592824" y="2807208"/>
            <a:ext cx="2286000" cy="320040"/>
          </a:xfrm>
          <a:prstGeom prst="rect">
            <a:avLst/>
          </a:prstGeom>
          <a:noFill/>
        </p:spPr>
        <p:txBody>
          <a:bodyPr wrap="square" lIns="36576" rIns="36576" tIns="36576" bIns="36576" anchor="t">
            <a:spAutoFit/>
          </a:bodyPr>
          <a:lstStyle/>
          <a:p>
            <a:pPr algn="l"/>
            <a:r>
              <a:rPr sz="1200" b="1">
                <a:solidFill>
                  <a:srgbClr val="22222A"/>
                </a:solidFill>
                <a:latin typeface="Aptos"/>
              </a:rPr>
              <a:t>웹사이트 방문 대비 구매 전환율</a:t>
            </a:r>
          </a:p>
        </p:txBody>
      </p:sp>
      <p:sp>
        <p:nvSpPr>
          <p:cNvPr id="19" name="Rounded Rectangle 18"/>
          <p:cNvSpPr/>
          <p:nvPr/>
        </p:nvSpPr>
        <p:spPr>
          <a:xfrm>
            <a:off x="9217152" y="1938528"/>
            <a:ext cx="2331720" cy="16916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17152" y="1938528"/>
            <a:ext cx="64008" cy="1691640"/>
          </a:xfrm>
          <a:prstGeom prst="rect">
            <a:avLst/>
          </a:prstGeom>
          <a:solidFill>
            <a:srgbClr val="7C9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45752" y="2167128"/>
            <a:ext cx="1920239" cy="502920"/>
          </a:xfrm>
          <a:prstGeom prst="rect">
            <a:avLst/>
          </a:prstGeom>
          <a:noFill/>
        </p:spPr>
        <p:txBody>
          <a:bodyPr wrap="square" lIns="36576" rIns="36576" tIns="36576" bIns="36576" anchor="t">
            <a:spAutoFit/>
          </a:bodyPr>
          <a:lstStyle/>
          <a:p>
            <a:pPr algn="l"/>
            <a:r>
              <a:rPr sz="2800" b="1">
                <a:solidFill>
                  <a:srgbClr val="1B2A4A"/>
                </a:solidFill>
                <a:latin typeface="Aptos"/>
              </a:rPr>
              <a:t>1.9%</a:t>
            </a:r>
          </a:p>
        </p:txBody>
      </p:sp>
      <p:sp>
        <p:nvSpPr>
          <p:cNvPr id="22" name="TextBox 21"/>
          <p:cNvSpPr txBox="1"/>
          <p:nvPr/>
        </p:nvSpPr>
        <p:spPr>
          <a:xfrm>
            <a:off x="9445752" y="2807208"/>
            <a:ext cx="1965960" cy="320040"/>
          </a:xfrm>
          <a:prstGeom prst="rect">
            <a:avLst/>
          </a:prstGeom>
          <a:noFill/>
        </p:spPr>
        <p:txBody>
          <a:bodyPr wrap="square" lIns="36576" rIns="36576" tIns="36576" bIns="36576" anchor="t">
            <a:spAutoFit/>
          </a:bodyPr>
          <a:lstStyle/>
          <a:p>
            <a:pPr algn="l"/>
            <a:r>
              <a:rPr sz="1200" b="1">
                <a:solidFill>
                  <a:srgbClr val="22222A"/>
                </a:solidFill>
                <a:latin typeface="Aptos"/>
              </a:rPr>
              <a:t>반품률</a:t>
            </a:r>
          </a:p>
        </p:txBody>
      </p:sp>
      <p:sp>
        <p:nvSpPr>
          <p:cNvPr id="23" name="Rounded Rectangle 22"/>
          <p:cNvSpPr/>
          <p:nvPr/>
        </p:nvSpPr>
        <p:spPr>
          <a:xfrm>
            <a:off x="658368" y="4160520"/>
            <a:ext cx="10890504" cy="960120"/>
          </a:xfrm>
          <a:prstGeom prst="round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4398264"/>
            <a:ext cx="1600200" cy="228600"/>
          </a:xfrm>
          <a:prstGeom prst="rect">
            <a:avLst/>
          </a:prstGeom>
          <a:noFill/>
        </p:spPr>
        <p:txBody>
          <a:bodyPr wrap="square" lIns="36576" rIns="36576" tIns="36576" bIns="36576" anchor="t">
            <a:spAutoFit/>
          </a:bodyPr>
          <a:lstStyle/>
          <a:p>
            <a:pPr algn="l"/>
            <a:r>
              <a:rPr sz="1200" b="1">
                <a:solidFill>
                  <a:srgbClr val="F5A623"/>
                </a:solidFill>
                <a:latin typeface="Aptos"/>
              </a:rPr>
              <a:t>경영진 시사점</a:t>
            </a:r>
          </a:p>
        </p:txBody>
      </p:sp>
      <p:sp>
        <p:nvSpPr>
          <p:cNvPr id="25" name="TextBox 24"/>
          <p:cNvSpPr txBox="1"/>
          <p:nvPr/>
        </p:nvSpPr>
        <p:spPr>
          <a:xfrm>
            <a:off x="932688" y="4718304"/>
            <a:ext cx="10012680" cy="274320"/>
          </a:xfrm>
          <a:prstGeom prst="rect">
            <a:avLst/>
          </a:prstGeom>
          <a:noFill/>
        </p:spPr>
        <p:txBody>
          <a:bodyPr wrap="square" lIns="36576" rIns="36576" tIns="36576" bIns="36576" anchor="t">
            <a:spAutoFit/>
          </a:bodyPr>
          <a:lstStyle/>
          <a:p>
            <a:pPr algn="l"/>
            <a:r>
              <a:rPr sz="1500" b="1">
                <a:solidFill>
                  <a:srgbClr val="1B2A4A"/>
                </a:solidFill>
                <a:latin typeface="Aptos"/>
              </a:rPr>
              <a:t>판매가 목표를 18% 상회한 가운데, 전환과 반품률은 출시 직후 수요가 실제 구매와 제품 경험으로 연결되고 있음을 보여줍니다.</a:t>
            </a:r>
          </a:p>
        </p:txBody>
      </p:sp>
      <p:sp>
        <p:nvSpPr>
          <p:cNvPr id="26" name="Rectangle 25"/>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03  |  채널 시사점</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다음 캠페인의 기준은 “규모”보다 “효율”입니다</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세부 채널 수익성·재고 회전은 운영 데이터로 즉시 점검 필요</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04</a:t>
            </a:r>
          </a:p>
        </p:txBody>
      </p:sp>
      <p:sp>
        <p:nvSpPr>
          <p:cNvPr id="7" name="Rounded Rectangle 6"/>
          <p:cNvSpPr/>
          <p:nvPr/>
        </p:nvSpPr>
        <p:spPr>
          <a:xfrm>
            <a:off x="685800" y="1874519"/>
            <a:ext cx="3337560" cy="32918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48840"/>
            <a:ext cx="2377440" cy="246888"/>
          </a:xfrm>
          <a:prstGeom prst="rect">
            <a:avLst/>
          </a:prstGeom>
          <a:noFill/>
        </p:spPr>
        <p:txBody>
          <a:bodyPr wrap="square" lIns="36576" rIns="36576" tIns="36576" bIns="36576" anchor="t">
            <a:spAutoFit/>
          </a:bodyPr>
          <a:lstStyle/>
          <a:p>
            <a:pPr algn="l"/>
            <a:r>
              <a:rPr sz="1300" b="1">
                <a:solidFill>
                  <a:srgbClr val="F5A623"/>
                </a:solidFill>
                <a:latin typeface="Aptos"/>
              </a:rPr>
              <a:t>관찰</a:t>
            </a:r>
          </a:p>
        </p:txBody>
      </p:sp>
      <p:sp>
        <p:nvSpPr>
          <p:cNvPr id="9" name="TextBox 8"/>
          <p:cNvSpPr txBox="1"/>
          <p:nvPr/>
        </p:nvSpPr>
        <p:spPr>
          <a:xfrm>
            <a:off x="960120" y="2606040"/>
            <a:ext cx="2651760" cy="640080"/>
          </a:xfrm>
          <a:prstGeom prst="rect">
            <a:avLst/>
          </a:prstGeom>
          <a:noFill/>
        </p:spPr>
        <p:txBody>
          <a:bodyPr wrap="square" lIns="36576" rIns="36576" tIns="36576" bIns="36576" anchor="t">
            <a:spAutoFit/>
          </a:bodyPr>
          <a:lstStyle/>
          <a:p>
            <a:pPr algn="l"/>
            <a:r>
              <a:rPr sz="2300" b="1">
                <a:solidFill>
                  <a:srgbClr val="1B2A4A"/>
                </a:solidFill>
                <a:latin typeface="Aptos"/>
              </a:rPr>
              <a:t>초기 수요는 예상보다 강함</a:t>
            </a:r>
          </a:p>
        </p:txBody>
      </p:sp>
      <p:sp>
        <p:nvSpPr>
          <p:cNvPr id="10" name="TextBox 9"/>
          <p:cNvSpPr txBox="1"/>
          <p:nvPr/>
        </p:nvSpPr>
        <p:spPr>
          <a:xfrm>
            <a:off x="960120" y="3794760"/>
            <a:ext cx="2286000" cy="548640"/>
          </a:xfrm>
          <a:prstGeom prst="rect">
            <a:avLst/>
          </a:prstGeom>
          <a:noFill/>
        </p:spPr>
        <p:txBody>
          <a:bodyPr wrap="square" lIns="36576" rIns="36576" tIns="36576" bIns="36576" anchor="t">
            <a:spAutoFit/>
          </a:bodyPr>
          <a:lstStyle/>
          <a:p>
            <a:pPr algn="l"/>
            <a:r>
              <a:rPr sz="1600" b="1">
                <a:solidFill>
                  <a:srgbClr val="22222A"/>
                </a:solidFill>
                <a:latin typeface="Aptos"/>
              </a:rPr>
              <a:t>6주 판매 12,400대
목표 대비 +18%</a:t>
            </a:r>
          </a:p>
        </p:txBody>
      </p:sp>
      <p:sp>
        <p:nvSpPr>
          <p:cNvPr id="11" name="Rounded Rectangle 10"/>
          <p:cNvSpPr/>
          <p:nvPr/>
        </p:nvSpPr>
        <p:spPr>
          <a:xfrm>
            <a:off x="4416552" y="1874519"/>
            <a:ext cx="3337560" cy="329184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148840"/>
            <a:ext cx="2377440" cy="246888"/>
          </a:xfrm>
          <a:prstGeom prst="rect">
            <a:avLst/>
          </a:prstGeom>
          <a:noFill/>
        </p:spPr>
        <p:txBody>
          <a:bodyPr wrap="square" lIns="36576" rIns="36576" tIns="36576" bIns="36576" anchor="t">
            <a:spAutoFit/>
          </a:bodyPr>
          <a:lstStyle/>
          <a:p>
            <a:pPr algn="l"/>
            <a:r>
              <a:rPr sz="1300" b="1">
                <a:solidFill>
                  <a:srgbClr val="F5A623"/>
                </a:solidFill>
                <a:latin typeface="Aptos"/>
              </a:rPr>
              <a:t>과제</a:t>
            </a:r>
          </a:p>
        </p:txBody>
      </p:sp>
      <p:sp>
        <p:nvSpPr>
          <p:cNvPr id="13" name="TextBox 12"/>
          <p:cNvSpPr txBox="1"/>
          <p:nvPr/>
        </p:nvSpPr>
        <p:spPr>
          <a:xfrm>
            <a:off x="4690872" y="2606040"/>
            <a:ext cx="2697480" cy="640080"/>
          </a:xfrm>
          <a:prstGeom prst="rect">
            <a:avLst/>
          </a:prstGeom>
          <a:noFill/>
        </p:spPr>
        <p:txBody>
          <a:bodyPr wrap="square" lIns="36576" rIns="36576" tIns="36576" bIns="36576" anchor="t">
            <a:spAutoFit/>
          </a:bodyPr>
          <a:lstStyle/>
          <a:p>
            <a:pPr algn="l"/>
            <a:r>
              <a:rPr sz="2300" b="1">
                <a:solidFill>
                  <a:srgbClr val="1B2A4A"/>
                </a:solidFill>
                <a:latin typeface="Aptos"/>
              </a:rPr>
              <a:t>채널별 수익성·재고 회전 편차</a:t>
            </a:r>
          </a:p>
        </p:txBody>
      </p:sp>
      <p:sp>
        <p:nvSpPr>
          <p:cNvPr id="14" name="TextBox 13"/>
          <p:cNvSpPr txBox="1"/>
          <p:nvPr/>
        </p:nvSpPr>
        <p:spPr>
          <a:xfrm>
            <a:off x="4690872" y="3794760"/>
            <a:ext cx="2606040" cy="548640"/>
          </a:xfrm>
          <a:prstGeom prst="rect">
            <a:avLst/>
          </a:prstGeom>
          <a:noFill/>
        </p:spPr>
        <p:txBody>
          <a:bodyPr wrap="square" lIns="36576" rIns="36576" tIns="36576" bIns="36576" anchor="t">
            <a:spAutoFit/>
          </a:bodyPr>
          <a:lstStyle/>
          <a:p>
            <a:pPr algn="l"/>
            <a:r>
              <a:rPr sz="1500" b="1">
                <a:solidFill>
                  <a:srgbClr val="22222A"/>
                </a:solidFill>
                <a:latin typeface="Aptos"/>
              </a:rPr>
              <a:t>브리프의 핵심 리스크
채널별 운영 지표 확인 필요</a:t>
            </a:r>
          </a:p>
        </p:txBody>
      </p:sp>
      <p:sp>
        <p:nvSpPr>
          <p:cNvPr id="15" name="Rounded Rectangle 14"/>
          <p:cNvSpPr/>
          <p:nvPr/>
        </p:nvSpPr>
        <p:spPr>
          <a:xfrm>
            <a:off x="8147304" y="1874519"/>
            <a:ext cx="3337560" cy="32918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1624" y="2148840"/>
            <a:ext cx="2377440" cy="246888"/>
          </a:xfrm>
          <a:prstGeom prst="rect">
            <a:avLst/>
          </a:prstGeom>
          <a:noFill/>
        </p:spPr>
        <p:txBody>
          <a:bodyPr wrap="square" lIns="36576" rIns="36576" tIns="36576" bIns="36576" anchor="t">
            <a:spAutoFit/>
          </a:bodyPr>
          <a:lstStyle/>
          <a:p>
            <a:pPr algn="l"/>
            <a:r>
              <a:rPr sz="1300" b="1">
                <a:solidFill>
                  <a:srgbClr val="F5A623"/>
                </a:solidFill>
                <a:latin typeface="Aptos"/>
              </a:rPr>
              <a:t>실행 원칙</a:t>
            </a:r>
          </a:p>
        </p:txBody>
      </p:sp>
      <p:sp>
        <p:nvSpPr>
          <p:cNvPr id="17" name="TextBox 16"/>
          <p:cNvSpPr txBox="1"/>
          <p:nvPr/>
        </p:nvSpPr>
        <p:spPr>
          <a:xfrm>
            <a:off x="8421624" y="2606040"/>
            <a:ext cx="2651760" cy="640080"/>
          </a:xfrm>
          <a:prstGeom prst="rect">
            <a:avLst/>
          </a:prstGeom>
          <a:noFill/>
        </p:spPr>
        <p:txBody>
          <a:bodyPr wrap="square" lIns="36576" rIns="36576" tIns="36576" bIns="36576" anchor="t">
            <a:spAutoFit/>
          </a:bodyPr>
          <a:lstStyle/>
          <a:p>
            <a:pPr algn="l"/>
            <a:r>
              <a:rPr sz="2300" b="1">
                <a:solidFill>
                  <a:srgbClr val="FFFFFF"/>
                </a:solidFill>
                <a:latin typeface="Aptos"/>
              </a:rPr>
              <a:t>고효율 채널로 재배분</a:t>
            </a:r>
          </a:p>
        </p:txBody>
      </p:sp>
      <p:sp>
        <p:nvSpPr>
          <p:cNvPr id="18" name="TextBox 17"/>
          <p:cNvSpPr txBox="1"/>
          <p:nvPr/>
        </p:nvSpPr>
        <p:spPr>
          <a:xfrm>
            <a:off x="8421624" y="3794760"/>
            <a:ext cx="2606040" cy="548640"/>
          </a:xfrm>
          <a:prstGeom prst="rect">
            <a:avLst/>
          </a:prstGeom>
          <a:noFill/>
        </p:spPr>
        <p:txBody>
          <a:bodyPr wrap="square" lIns="36576" rIns="36576" tIns="36576" bIns="36576" anchor="t">
            <a:spAutoFit/>
          </a:bodyPr>
          <a:lstStyle/>
          <a:p>
            <a:pPr algn="l"/>
            <a:r>
              <a:rPr sz="1500" b="1">
                <a:solidFill>
                  <a:srgbClr val="D8E1F0"/>
                </a:solidFill>
                <a:latin typeface="Aptos"/>
              </a:rPr>
              <a:t>2차 캠페인은 효율과 회전을
주간 단위로 관리</a:t>
            </a:r>
          </a:p>
        </p:txBody>
      </p:sp>
      <p:sp>
        <p:nvSpPr>
          <p:cNvPr id="19" name="TextBox 18"/>
          <p:cNvSpPr txBox="1"/>
          <p:nvPr/>
        </p:nvSpPr>
        <p:spPr>
          <a:xfrm>
            <a:off x="713232" y="5669280"/>
            <a:ext cx="10698480" cy="256032"/>
          </a:xfrm>
          <a:prstGeom prst="rect">
            <a:avLst/>
          </a:prstGeom>
          <a:noFill/>
        </p:spPr>
        <p:txBody>
          <a:bodyPr wrap="square" lIns="36576" rIns="36576" tIns="36576" bIns="36576" anchor="t">
            <a:spAutoFit/>
          </a:bodyPr>
          <a:lstStyle/>
          <a:p>
            <a:pPr algn="l"/>
            <a:r>
              <a:rPr sz="1000" b="0">
                <a:solidFill>
                  <a:srgbClr val="5C6678"/>
                </a:solidFill>
                <a:latin typeface="Aptos"/>
              </a:rPr>
              <a:t>가정: 채널별 상세 수치는 본 브리프에 포함되지 않아, 본 슬라이드는 방향성과 관리 기준만 제시합니다.</a:t>
            </a:r>
          </a:p>
        </p:txBody>
      </p:sp>
      <p:sp>
        <p:nvSpPr>
          <p:cNvPr id="20" name="Rectangle 19"/>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04  |  고객 반응</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기업 고객의 재구매 의향을 다음 검증의 출발점으로</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정성 반응은 유지하되, 표본 기반의 후속 확인이 필요</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05</a:t>
            </a:r>
          </a:p>
        </p:txBody>
      </p:sp>
      <p:sp>
        <p:nvSpPr>
          <p:cNvPr id="7" name="Rounded Rectangle 6"/>
          <p:cNvSpPr/>
          <p:nvPr/>
        </p:nvSpPr>
        <p:spPr>
          <a:xfrm>
            <a:off x="713232" y="1874519"/>
            <a:ext cx="3063240" cy="182880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64008" cy="18288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103120"/>
            <a:ext cx="2651760" cy="502920"/>
          </a:xfrm>
          <a:prstGeom prst="rect">
            <a:avLst/>
          </a:prstGeom>
          <a:noFill/>
        </p:spPr>
        <p:txBody>
          <a:bodyPr wrap="square" lIns="36576" rIns="36576" tIns="36576" bIns="36576" anchor="t">
            <a:spAutoFit/>
          </a:bodyPr>
          <a:lstStyle/>
          <a:p>
            <a:pPr algn="l"/>
            <a:r>
              <a:rPr sz="2800" b="1">
                <a:solidFill>
                  <a:srgbClr val="1B2A4A"/>
                </a:solidFill>
                <a:latin typeface="Aptos"/>
              </a:rPr>
              <a:t>61개</a:t>
            </a:r>
          </a:p>
        </p:txBody>
      </p:sp>
      <p:sp>
        <p:nvSpPr>
          <p:cNvPr id="10" name="TextBox 9"/>
          <p:cNvSpPr txBox="1"/>
          <p:nvPr/>
        </p:nvSpPr>
        <p:spPr>
          <a:xfrm>
            <a:off x="941832" y="2743200"/>
            <a:ext cx="2697480" cy="320040"/>
          </a:xfrm>
          <a:prstGeom prst="rect">
            <a:avLst/>
          </a:prstGeom>
          <a:noFill/>
        </p:spPr>
        <p:txBody>
          <a:bodyPr wrap="square" lIns="36576" rIns="36576" tIns="36576" bIns="36576" anchor="t">
            <a:spAutoFit/>
          </a:bodyPr>
          <a:lstStyle/>
          <a:p>
            <a:pPr algn="l"/>
            <a:r>
              <a:rPr sz="1200" b="1">
                <a:solidFill>
                  <a:srgbClr val="22222A"/>
                </a:solidFill>
                <a:latin typeface="Aptos"/>
              </a:rPr>
              <a:t>재구매 의향 조사 응답
기업 고객</a:t>
            </a:r>
          </a:p>
        </p:txBody>
      </p:sp>
      <p:sp>
        <p:nvSpPr>
          <p:cNvPr id="11" name="Rounded Rectangle 10"/>
          <p:cNvSpPr/>
          <p:nvPr/>
        </p:nvSpPr>
        <p:spPr>
          <a:xfrm>
            <a:off x="4160520" y="1874519"/>
            <a:ext cx="7223760" cy="182880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157984"/>
            <a:ext cx="914400" cy="228600"/>
          </a:xfrm>
          <a:prstGeom prst="rect">
            <a:avLst/>
          </a:prstGeom>
          <a:noFill/>
        </p:spPr>
        <p:txBody>
          <a:bodyPr wrap="square" lIns="36576" rIns="36576" tIns="36576" bIns="36576" anchor="t">
            <a:spAutoFit/>
          </a:bodyPr>
          <a:lstStyle/>
          <a:p>
            <a:pPr algn="l"/>
            <a:r>
              <a:rPr sz="1300" b="1">
                <a:solidFill>
                  <a:srgbClr val="F5A623"/>
                </a:solidFill>
                <a:latin typeface="Aptos"/>
              </a:rPr>
              <a:t>의미</a:t>
            </a:r>
          </a:p>
        </p:txBody>
      </p:sp>
      <p:sp>
        <p:nvSpPr>
          <p:cNvPr id="13" name="TextBox 12"/>
          <p:cNvSpPr txBox="1"/>
          <p:nvPr/>
        </p:nvSpPr>
        <p:spPr>
          <a:xfrm>
            <a:off x="4480560" y="2578608"/>
            <a:ext cx="6309360" cy="502920"/>
          </a:xfrm>
          <a:prstGeom prst="rect">
            <a:avLst/>
          </a:prstGeom>
          <a:noFill/>
        </p:spPr>
        <p:txBody>
          <a:bodyPr wrap="square" lIns="36576" rIns="36576" tIns="36576" bIns="36576" anchor="t">
            <a:spAutoFit/>
          </a:bodyPr>
          <a:lstStyle/>
          <a:p>
            <a:pPr algn="l"/>
            <a:r>
              <a:rPr sz="2100" b="1">
                <a:solidFill>
                  <a:srgbClr val="1B2A4A"/>
                </a:solidFill>
                <a:latin typeface="Aptos"/>
              </a:rPr>
              <a:t>기업 고객 반응을 다음 분기 반복 구매·확장 제안의 우선 검증 대상으로 활용</a:t>
            </a:r>
          </a:p>
        </p:txBody>
      </p:sp>
      <p:sp>
        <p:nvSpPr>
          <p:cNvPr id="14" name="Rounded Rectangle 13"/>
          <p:cNvSpPr/>
          <p:nvPr/>
        </p:nvSpPr>
        <p:spPr>
          <a:xfrm>
            <a:off x="713232" y="4224528"/>
            <a:ext cx="10671048" cy="960120"/>
          </a:xfrm>
          <a:prstGeom prst="round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480560"/>
            <a:ext cx="1325880" cy="228600"/>
          </a:xfrm>
          <a:prstGeom prst="rect">
            <a:avLst/>
          </a:prstGeom>
          <a:noFill/>
        </p:spPr>
        <p:txBody>
          <a:bodyPr wrap="square" lIns="36576" rIns="36576" tIns="36576" bIns="36576" anchor="t">
            <a:spAutoFit/>
          </a:bodyPr>
          <a:lstStyle/>
          <a:p>
            <a:pPr algn="l"/>
            <a:r>
              <a:rPr sz="1200" b="1">
                <a:solidFill>
                  <a:srgbClr val="F5A623"/>
                </a:solidFill>
                <a:latin typeface="Aptos"/>
              </a:rPr>
              <a:t>다음 확인</a:t>
            </a:r>
          </a:p>
        </p:txBody>
      </p:sp>
      <p:sp>
        <p:nvSpPr>
          <p:cNvPr id="16" name="TextBox 15"/>
          <p:cNvSpPr txBox="1"/>
          <p:nvPr/>
        </p:nvSpPr>
        <p:spPr>
          <a:xfrm>
            <a:off x="2395728" y="4462272"/>
            <a:ext cx="8458200" cy="274320"/>
          </a:xfrm>
          <a:prstGeom prst="rect">
            <a:avLst/>
          </a:prstGeom>
          <a:noFill/>
        </p:spPr>
        <p:txBody>
          <a:bodyPr wrap="square" lIns="36576" rIns="36576" tIns="36576" bIns="36576" anchor="t">
            <a:spAutoFit/>
          </a:bodyPr>
          <a:lstStyle/>
          <a:p>
            <a:pPr algn="l"/>
            <a:r>
              <a:rPr sz="1500" b="1">
                <a:solidFill>
                  <a:srgbClr val="1B2A4A"/>
                </a:solidFill>
                <a:latin typeface="Aptos"/>
              </a:rPr>
              <a:t>응답 61개 기업 고객을 기반으로 재구매 의향의 구체적 전환 조건과 채널별 반영 방법을 확인합니다.</a:t>
            </a:r>
          </a:p>
        </p:txBody>
      </p:sp>
      <p:sp>
        <p:nvSpPr>
          <p:cNvPr id="17" name="Rectangle 16"/>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05  |  운영 상태</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성장과 품질을 동시에 관리할 수 있는 초기 신호</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수요 확대 전, 회전·수익성 편차를 통제하는 운영 체계가 핵심</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06</a:t>
            </a:r>
          </a:p>
        </p:txBody>
      </p:sp>
      <p:sp>
        <p:nvSpPr>
          <p:cNvPr id="7" name="Rounded Rectangle 6"/>
          <p:cNvSpPr/>
          <p:nvPr/>
        </p:nvSpPr>
        <p:spPr>
          <a:xfrm>
            <a:off x="713232" y="1920240"/>
            <a:ext cx="4937760" cy="3246120"/>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12848"/>
            <a:ext cx="2194560" cy="256032"/>
          </a:xfrm>
          <a:prstGeom prst="rect">
            <a:avLst/>
          </a:prstGeom>
          <a:noFill/>
        </p:spPr>
        <p:txBody>
          <a:bodyPr wrap="square" lIns="36576" rIns="36576" tIns="36576" bIns="36576" anchor="t">
            <a:spAutoFit/>
          </a:bodyPr>
          <a:lstStyle/>
          <a:p>
            <a:pPr algn="l"/>
            <a:r>
              <a:rPr sz="1300" b="1">
                <a:solidFill>
                  <a:srgbClr val="F5A623"/>
                </a:solidFill>
                <a:latin typeface="Aptos"/>
              </a:rPr>
              <a:t>제품 경험 신호</a:t>
            </a:r>
          </a:p>
        </p:txBody>
      </p:sp>
      <p:sp>
        <p:nvSpPr>
          <p:cNvPr id="9" name="TextBox 8"/>
          <p:cNvSpPr txBox="1"/>
          <p:nvPr/>
        </p:nvSpPr>
        <p:spPr>
          <a:xfrm>
            <a:off x="1005840" y="2697480"/>
            <a:ext cx="3474720" cy="457200"/>
          </a:xfrm>
          <a:prstGeom prst="rect">
            <a:avLst/>
          </a:prstGeom>
          <a:noFill/>
        </p:spPr>
        <p:txBody>
          <a:bodyPr wrap="square" lIns="36576" rIns="36576" tIns="36576" bIns="36576" anchor="t">
            <a:spAutoFit/>
          </a:bodyPr>
          <a:lstStyle/>
          <a:p>
            <a:pPr algn="l"/>
            <a:r>
              <a:rPr sz="2900" b="1">
                <a:solidFill>
                  <a:srgbClr val="1B2A4A"/>
                </a:solidFill>
                <a:latin typeface="Aptos"/>
              </a:rPr>
              <a:t>반품률 1.9%</a:t>
            </a:r>
          </a:p>
        </p:txBody>
      </p:sp>
      <p:sp>
        <p:nvSpPr>
          <p:cNvPr id="10" name="TextBox 9"/>
          <p:cNvSpPr txBox="1"/>
          <p:nvPr/>
        </p:nvSpPr>
        <p:spPr>
          <a:xfrm>
            <a:off x="1005840" y="3429000"/>
            <a:ext cx="3291840" cy="502920"/>
          </a:xfrm>
          <a:prstGeom prst="rect">
            <a:avLst/>
          </a:prstGeom>
          <a:noFill/>
        </p:spPr>
        <p:txBody>
          <a:bodyPr wrap="square" lIns="36576" rIns="36576" tIns="36576" bIns="36576" anchor="t">
            <a:spAutoFit/>
          </a:bodyPr>
          <a:lstStyle/>
          <a:p>
            <a:pPr algn="l"/>
            <a:r>
              <a:rPr sz="1600" b="0">
                <a:solidFill>
                  <a:srgbClr val="22222A"/>
                </a:solidFill>
                <a:latin typeface="Aptos"/>
              </a:rPr>
              <a:t>초기 수요 확대 과정에서
제품 경험을 계속 추적</a:t>
            </a:r>
          </a:p>
        </p:txBody>
      </p:sp>
      <p:sp>
        <p:nvSpPr>
          <p:cNvPr id="11" name="Rounded Rectangle 10"/>
          <p:cNvSpPr/>
          <p:nvPr/>
        </p:nvSpPr>
        <p:spPr>
          <a:xfrm>
            <a:off x="6035040" y="1920240"/>
            <a:ext cx="5440680" cy="32461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2468880" cy="256032"/>
          </a:xfrm>
          <a:prstGeom prst="rect">
            <a:avLst/>
          </a:prstGeom>
          <a:noFill/>
        </p:spPr>
        <p:txBody>
          <a:bodyPr wrap="square" lIns="36576" rIns="36576" tIns="36576" bIns="36576" anchor="t">
            <a:spAutoFit/>
          </a:bodyPr>
          <a:lstStyle/>
          <a:p>
            <a:pPr algn="l"/>
            <a:r>
              <a:rPr sz="1300" b="1">
                <a:solidFill>
                  <a:srgbClr val="F5A623"/>
                </a:solidFill>
                <a:latin typeface="Aptos"/>
              </a:rPr>
              <a:t>운영 우선순위</a:t>
            </a:r>
          </a:p>
        </p:txBody>
      </p:sp>
      <p:sp>
        <p:nvSpPr>
          <p:cNvPr id="13" name="TextBox 12"/>
          <p:cNvSpPr txBox="1"/>
          <p:nvPr/>
        </p:nvSpPr>
        <p:spPr>
          <a:xfrm>
            <a:off x="6336792" y="2706624"/>
            <a:ext cx="4434840" cy="1508760"/>
          </a:xfrm>
          <a:prstGeom prst="rect">
            <a:avLst/>
          </a:prstGeom>
          <a:noFill/>
        </p:spPr>
        <p:txBody>
          <a:bodyPr wrap="square" lIns="45720" rIns="45720">
            <a:spAutoFit/>
          </a:bodyPr>
          <a:lstStyle/>
          <a:p>
            <a:pPr>
              <a:spcAft>
                <a:spcPts val="1300"/>
              </a:spcAft>
              <a:defRPr sz="1600" b="0">
                <a:solidFill>
                  <a:srgbClr val="22222A"/>
                </a:solidFill>
                <a:latin typeface="Aptos"/>
              </a:defRPr>
            </a:pPr>
            <a:r>
              <a:rPr>
                <a:solidFill>
                  <a:srgbClr val="FFFFFF"/>
                </a:solidFill>
              </a:rPr>
              <a:t>•  채널별 수익성 기준 설정</a:t>
            </a:r>
          </a:p>
          <a:p>
            <a:pPr>
              <a:spcAft>
                <a:spcPts val="1300"/>
              </a:spcAft>
              <a:defRPr sz="1600" b="0">
                <a:solidFill>
                  <a:srgbClr val="22222A"/>
                </a:solidFill>
                <a:latin typeface="Aptos"/>
              </a:defRPr>
            </a:pPr>
            <a:r>
              <a:rPr>
                <a:solidFill>
                  <a:srgbClr val="FFFFFF"/>
                </a:solidFill>
              </a:rPr>
              <a:t>•  재고 회전 주간 모니터링</a:t>
            </a:r>
          </a:p>
          <a:p>
            <a:pPr>
              <a:spcAft>
                <a:spcPts val="1300"/>
              </a:spcAft>
              <a:defRPr sz="1600" b="0">
                <a:solidFill>
                  <a:srgbClr val="22222A"/>
                </a:solidFill>
                <a:latin typeface="Aptos"/>
              </a:defRPr>
            </a:pPr>
            <a:r>
              <a:rPr>
                <a:solidFill>
                  <a:srgbClr val="FFFFFF"/>
                </a:solidFill>
              </a:rPr>
              <a:t>•  2차 캠페인 투자 재배분</a:t>
            </a:r>
          </a:p>
        </p:txBody>
      </p:sp>
      <p:sp>
        <p:nvSpPr>
          <p:cNvPr id="14" name="Rectangle 13"/>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06  |  리스크 및 확인 필요</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누적 매출 기준이 두 보고에서 불일치합니다</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의사결정 전 단일 기준·정산 시점을 확정해야 합니다</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07</a:t>
            </a:r>
          </a:p>
        </p:txBody>
      </p:sp>
      <p:sp>
        <p:nvSpPr>
          <p:cNvPr id="7" name="Rounded Rectangle 6"/>
          <p:cNvSpPr/>
          <p:nvPr/>
        </p:nvSpPr>
        <p:spPr>
          <a:xfrm>
            <a:off x="777240" y="1938528"/>
            <a:ext cx="4297680" cy="1874519"/>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38528"/>
            <a:ext cx="64008" cy="1874519"/>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67128"/>
            <a:ext cx="3886200" cy="502920"/>
          </a:xfrm>
          <a:prstGeom prst="rect">
            <a:avLst/>
          </a:prstGeom>
          <a:noFill/>
        </p:spPr>
        <p:txBody>
          <a:bodyPr wrap="square" lIns="36576" rIns="36576" tIns="36576" bIns="36576" anchor="t">
            <a:spAutoFit/>
          </a:bodyPr>
          <a:lstStyle/>
          <a:p>
            <a:pPr algn="l"/>
            <a:r>
              <a:rPr sz="2800" b="1">
                <a:solidFill>
                  <a:srgbClr val="1B2A4A"/>
                </a:solidFill>
                <a:latin typeface="Aptos"/>
              </a:rPr>
              <a:t>3억 원</a:t>
            </a:r>
          </a:p>
        </p:txBody>
      </p:sp>
      <p:sp>
        <p:nvSpPr>
          <p:cNvPr id="10" name="TextBox 9"/>
          <p:cNvSpPr txBox="1"/>
          <p:nvPr/>
        </p:nvSpPr>
        <p:spPr>
          <a:xfrm>
            <a:off x="1005840" y="2807208"/>
            <a:ext cx="3931920" cy="320040"/>
          </a:xfrm>
          <a:prstGeom prst="rect">
            <a:avLst/>
          </a:prstGeom>
          <a:noFill/>
        </p:spPr>
        <p:txBody>
          <a:bodyPr wrap="square" lIns="36576" rIns="36576" tIns="36576" bIns="36576" anchor="t">
            <a:spAutoFit/>
          </a:bodyPr>
          <a:lstStyle/>
          <a:p>
            <a:pPr algn="l"/>
            <a:r>
              <a:rPr sz="1200" b="1">
                <a:solidFill>
                  <a:srgbClr val="22222A"/>
                </a:solidFill>
                <a:latin typeface="Aptos"/>
              </a:rPr>
              <a:t>영업팀 주간 보고 기준
누적 매출</a:t>
            </a:r>
          </a:p>
        </p:txBody>
      </p:sp>
      <p:sp>
        <p:nvSpPr>
          <p:cNvPr id="11" name="Rounded Rectangle 10"/>
          <p:cNvSpPr/>
          <p:nvPr/>
        </p:nvSpPr>
        <p:spPr>
          <a:xfrm>
            <a:off x="7114032" y="1938528"/>
            <a:ext cx="4297680" cy="1874519"/>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14032" y="1938528"/>
            <a:ext cx="64008" cy="1874519"/>
          </a:xfrm>
          <a:prstGeom prst="rect">
            <a:avLst/>
          </a:prstGeom>
          <a:solidFill>
            <a:srgbClr val="7C9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42632" y="2167128"/>
            <a:ext cx="3886200" cy="502920"/>
          </a:xfrm>
          <a:prstGeom prst="rect">
            <a:avLst/>
          </a:prstGeom>
          <a:noFill/>
        </p:spPr>
        <p:txBody>
          <a:bodyPr wrap="square" lIns="36576" rIns="36576" tIns="36576" bIns="36576" anchor="t">
            <a:spAutoFit/>
          </a:bodyPr>
          <a:lstStyle/>
          <a:p>
            <a:pPr algn="l"/>
            <a:r>
              <a:rPr sz="2800" b="1">
                <a:solidFill>
                  <a:srgbClr val="1B2A4A"/>
                </a:solidFill>
                <a:latin typeface="Aptos"/>
              </a:rPr>
              <a:t>3.4억 원</a:t>
            </a:r>
          </a:p>
        </p:txBody>
      </p:sp>
      <p:sp>
        <p:nvSpPr>
          <p:cNvPr id="14" name="TextBox 13"/>
          <p:cNvSpPr txBox="1"/>
          <p:nvPr/>
        </p:nvSpPr>
        <p:spPr>
          <a:xfrm>
            <a:off x="7342632" y="2807208"/>
            <a:ext cx="3931920" cy="320040"/>
          </a:xfrm>
          <a:prstGeom prst="rect">
            <a:avLst/>
          </a:prstGeom>
          <a:noFill/>
        </p:spPr>
        <p:txBody>
          <a:bodyPr wrap="square" lIns="36576" rIns="36576" tIns="36576" bIns="36576" anchor="t">
            <a:spAutoFit/>
          </a:bodyPr>
          <a:lstStyle/>
          <a:p>
            <a:pPr algn="l"/>
            <a:r>
              <a:rPr sz="1200" b="1">
                <a:solidFill>
                  <a:srgbClr val="22222A"/>
                </a:solidFill>
                <a:latin typeface="Aptos"/>
              </a:rPr>
              <a:t>재무팀 마감 기준
누적 매출</a:t>
            </a:r>
          </a:p>
        </p:txBody>
      </p:sp>
      <p:sp>
        <p:nvSpPr>
          <p:cNvPr id="15" name="TextBox 14"/>
          <p:cNvSpPr txBox="1"/>
          <p:nvPr/>
        </p:nvSpPr>
        <p:spPr>
          <a:xfrm>
            <a:off x="5596128" y="2441448"/>
            <a:ext cx="914400" cy="548640"/>
          </a:xfrm>
          <a:prstGeom prst="rect">
            <a:avLst/>
          </a:prstGeom>
          <a:noFill/>
        </p:spPr>
        <p:txBody>
          <a:bodyPr wrap="square" lIns="36576" rIns="36576" tIns="36576" bIns="36576" anchor="t">
            <a:spAutoFit/>
          </a:bodyPr>
          <a:lstStyle/>
          <a:p>
            <a:pPr algn="ctr"/>
            <a:r>
              <a:rPr sz="3500" b="1">
                <a:solidFill>
                  <a:srgbClr val="F5A623"/>
                </a:solidFill>
                <a:latin typeface="Aptos"/>
              </a:rPr>
              <a:t>≠</a:t>
            </a:r>
          </a:p>
        </p:txBody>
      </p:sp>
      <p:sp>
        <p:nvSpPr>
          <p:cNvPr id="16" name="Rounded Rectangle 15"/>
          <p:cNvSpPr/>
          <p:nvPr/>
        </p:nvSpPr>
        <p:spPr>
          <a:xfrm>
            <a:off x="777240" y="4343400"/>
            <a:ext cx="10634472" cy="868680"/>
          </a:xfrm>
          <a:prstGeom prst="roundRect">
            <a:avLst/>
          </a:prstGeom>
          <a:solidFill>
            <a:srgbClr val="FFF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599432"/>
            <a:ext cx="1143000" cy="210312"/>
          </a:xfrm>
          <a:prstGeom prst="rect">
            <a:avLst/>
          </a:prstGeom>
          <a:noFill/>
        </p:spPr>
        <p:txBody>
          <a:bodyPr wrap="square" lIns="36576" rIns="36576" tIns="36576" bIns="36576" anchor="t">
            <a:spAutoFit/>
          </a:bodyPr>
          <a:lstStyle/>
          <a:p>
            <a:pPr algn="l"/>
            <a:r>
              <a:rPr sz="1200" b="1">
                <a:solidFill>
                  <a:srgbClr val="F5A623"/>
                </a:solidFill>
                <a:latin typeface="Aptos"/>
              </a:rPr>
              <a:t>확인 필요</a:t>
            </a:r>
          </a:p>
        </p:txBody>
      </p:sp>
      <p:sp>
        <p:nvSpPr>
          <p:cNvPr id="18" name="TextBox 17"/>
          <p:cNvSpPr txBox="1"/>
          <p:nvPr/>
        </p:nvSpPr>
        <p:spPr>
          <a:xfrm>
            <a:off x="2350008" y="4572000"/>
            <a:ext cx="8366760" cy="301752"/>
          </a:xfrm>
          <a:prstGeom prst="rect">
            <a:avLst/>
          </a:prstGeom>
          <a:noFill/>
        </p:spPr>
        <p:txBody>
          <a:bodyPr wrap="square" lIns="36576" rIns="36576" tIns="36576" bIns="36576" anchor="t">
            <a:spAutoFit/>
          </a:bodyPr>
          <a:lstStyle/>
          <a:p>
            <a:pPr algn="l"/>
            <a:r>
              <a:rPr sz="1500" b="1">
                <a:solidFill>
                  <a:srgbClr val="1B2A4A"/>
                </a:solidFill>
                <a:latin typeface="Aptos"/>
              </a:rPr>
              <a:t>영업팀 주간 보고와 재무팀 마감 보고의 누적 매출 수치가 불일치 — 다음 분기 예산 집행 전 단일 기준으로 검증합니다.</a:t>
            </a:r>
          </a:p>
        </p:txBody>
      </p:sp>
      <p:sp>
        <p:nvSpPr>
          <p:cNvPr id="19" name="Rectangle 18"/>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66928" y="320040"/>
            <a:ext cx="7040880" cy="246888"/>
          </a:xfrm>
          <a:prstGeom prst="rect">
            <a:avLst/>
          </a:prstGeom>
          <a:noFill/>
        </p:spPr>
        <p:txBody>
          <a:bodyPr wrap="square" lIns="36576" rIns="36576" tIns="36576" bIns="36576" anchor="t">
            <a:spAutoFit/>
          </a:bodyPr>
          <a:lstStyle/>
          <a:p>
            <a:pPr algn="l"/>
            <a:r>
              <a:rPr sz="1000" b="1">
                <a:solidFill>
                  <a:srgbClr val="F5A623"/>
                </a:solidFill>
                <a:latin typeface="Aptos"/>
              </a:rPr>
              <a:t>07  |  의사결정 요청</a:t>
            </a:r>
          </a:p>
        </p:txBody>
      </p:sp>
      <p:sp>
        <p:nvSpPr>
          <p:cNvPr id="3" name="TextBox 2"/>
          <p:cNvSpPr txBox="1"/>
          <p:nvPr/>
        </p:nvSpPr>
        <p:spPr>
          <a:xfrm>
            <a:off x="566928" y="621792"/>
            <a:ext cx="10287000" cy="530352"/>
          </a:xfrm>
          <a:prstGeom prst="rect">
            <a:avLst/>
          </a:prstGeom>
          <a:noFill/>
        </p:spPr>
        <p:txBody>
          <a:bodyPr wrap="square" lIns="36576" rIns="36576" tIns="36576" bIns="36576" anchor="t">
            <a:spAutoFit/>
          </a:bodyPr>
          <a:lstStyle/>
          <a:p>
            <a:pPr algn="l"/>
            <a:r>
              <a:rPr sz="2700" b="1">
                <a:solidFill>
                  <a:srgbClr val="1B2A4A"/>
                </a:solidFill>
                <a:latin typeface="Aptos"/>
              </a:rPr>
              <a:t>다음 분기: 8억 원을 고효율 채널에 재배분</a:t>
            </a:r>
          </a:p>
        </p:txBody>
      </p:sp>
      <p:sp>
        <p:nvSpPr>
          <p:cNvPr id="4" name="TextBox 3"/>
          <p:cNvSpPr txBox="1"/>
          <p:nvPr/>
        </p:nvSpPr>
        <p:spPr>
          <a:xfrm>
            <a:off x="585216" y="1170432"/>
            <a:ext cx="10149840" cy="310896"/>
          </a:xfrm>
          <a:prstGeom prst="rect">
            <a:avLst/>
          </a:prstGeom>
          <a:noFill/>
        </p:spPr>
        <p:txBody>
          <a:bodyPr wrap="square" lIns="36576" rIns="36576" tIns="36576" bIns="36576" anchor="t">
            <a:spAutoFit/>
          </a:bodyPr>
          <a:lstStyle/>
          <a:p>
            <a:pPr algn="l"/>
            <a:r>
              <a:rPr sz="1200" b="0">
                <a:solidFill>
                  <a:srgbClr val="5C6678"/>
                </a:solidFill>
                <a:latin typeface="Aptos"/>
              </a:rPr>
              <a:t>수요 모멘텀을 유지하면서 수익성과 회전의 편차를 줄입니다</a:t>
            </a:r>
          </a:p>
        </p:txBody>
      </p:sp>
      <p:sp>
        <p:nvSpPr>
          <p:cNvPr id="5" name="Rectangle 4"/>
          <p:cNvSpPr/>
          <p:nvPr/>
        </p:nvSpPr>
        <p:spPr>
          <a:xfrm>
            <a:off x="566928" y="1572768"/>
            <a:ext cx="96012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37392" y="6400800"/>
            <a:ext cx="411480" cy="228600"/>
          </a:xfrm>
          <a:prstGeom prst="rect">
            <a:avLst/>
          </a:prstGeom>
          <a:noFill/>
        </p:spPr>
        <p:txBody>
          <a:bodyPr wrap="square" lIns="36576" rIns="36576" tIns="36576" bIns="36576" anchor="t">
            <a:spAutoFit/>
          </a:bodyPr>
          <a:lstStyle/>
          <a:p>
            <a:pPr algn="r"/>
            <a:r>
              <a:rPr sz="1000" b="1">
                <a:solidFill>
                  <a:srgbClr val="7C93B8"/>
                </a:solidFill>
                <a:latin typeface="Aptos"/>
              </a:rPr>
              <a:t>08</a:t>
            </a:r>
          </a:p>
        </p:txBody>
      </p:sp>
      <p:sp>
        <p:nvSpPr>
          <p:cNvPr id="7" name="Rounded Rectangle 6"/>
          <p:cNvSpPr/>
          <p:nvPr/>
        </p:nvSpPr>
        <p:spPr>
          <a:xfrm>
            <a:off x="731520" y="1874519"/>
            <a:ext cx="3017520" cy="33375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12848"/>
            <a:ext cx="1371600" cy="256032"/>
          </a:xfrm>
          <a:prstGeom prst="rect">
            <a:avLst/>
          </a:prstGeom>
          <a:noFill/>
        </p:spPr>
        <p:txBody>
          <a:bodyPr wrap="square" lIns="36576" rIns="36576" tIns="36576" bIns="36576" anchor="t">
            <a:spAutoFit/>
          </a:bodyPr>
          <a:lstStyle/>
          <a:p>
            <a:pPr algn="l"/>
            <a:r>
              <a:rPr sz="1300" b="1">
                <a:solidFill>
                  <a:srgbClr val="F5A623"/>
                </a:solidFill>
                <a:latin typeface="Aptos"/>
              </a:rPr>
              <a:t>요청</a:t>
            </a:r>
          </a:p>
        </p:txBody>
      </p:sp>
      <p:sp>
        <p:nvSpPr>
          <p:cNvPr id="9" name="TextBox 8"/>
          <p:cNvSpPr txBox="1"/>
          <p:nvPr/>
        </p:nvSpPr>
        <p:spPr>
          <a:xfrm>
            <a:off x="1051560" y="2697480"/>
            <a:ext cx="2194560" cy="685800"/>
          </a:xfrm>
          <a:prstGeom prst="rect">
            <a:avLst/>
          </a:prstGeom>
          <a:noFill/>
        </p:spPr>
        <p:txBody>
          <a:bodyPr wrap="square" lIns="36576" rIns="36576" tIns="36576" bIns="36576" anchor="t">
            <a:spAutoFit/>
          </a:bodyPr>
          <a:lstStyle/>
          <a:p>
            <a:pPr algn="l"/>
            <a:r>
              <a:rPr sz="2400" b="1">
                <a:solidFill>
                  <a:srgbClr val="FFFFFF"/>
                </a:solidFill>
                <a:latin typeface="Aptos"/>
              </a:rPr>
              <a:t>추가 마케팅
예산 승인</a:t>
            </a:r>
          </a:p>
        </p:txBody>
      </p:sp>
      <p:sp>
        <p:nvSpPr>
          <p:cNvPr id="10" name="TextBox 9"/>
          <p:cNvSpPr txBox="1"/>
          <p:nvPr/>
        </p:nvSpPr>
        <p:spPr>
          <a:xfrm>
            <a:off x="1051560" y="3977639"/>
            <a:ext cx="2011680" cy="411480"/>
          </a:xfrm>
          <a:prstGeom prst="rect">
            <a:avLst/>
          </a:prstGeom>
          <a:noFill/>
        </p:spPr>
        <p:txBody>
          <a:bodyPr wrap="square" lIns="36576" rIns="36576" tIns="36576" bIns="36576" anchor="t">
            <a:spAutoFit/>
          </a:bodyPr>
          <a:lstStyle/>
          <a:p>
            <a:pPr algn="l"/>
            <a:r>
              <a:rPr sz="2800" b="1">
                <a:solidFill>
                  <a:srgbClr val="F5A623"/>
                </a:solidFill>
                <a:latin typeface="Aptos"/>
              </a:rPr>
              <a:t>8억 원</a:t>
            </a:r>
          </a:p>
        </p:txBody>
      </p:sp>
      <p:sp>
        <p:nvSpPr>
          <p:cNvPr id="11" name="Rounded Rectangle 10"/>
          <p:cNvSpPr/>
          <p:nvPr/>
        </p:nvSpPr>
        <p:spPr>
          <a:xfrm>
            <a:off x="4224528" y="1901952"/>
            <a:ext cx="7114032" cy="832104"/>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2130552"/>
            <a:ext cx="320040" cy="228600"/>
          </a:xfrm>
          <a:prstGeom prst="rect">
            <a:avLst/>
          </a:prstGeom>
          <a:noFill/>
        </p:spPr>
        <p:txBody>
          <a:bodyPr wrap="square" lIns="36576" rIns="36576" tIns="36576" bIns="36576" anchor="t">
            <a:spAutoFit/>
          </a:bodyPr>
          <a:lstStyle/>
          <a:p>
            <a:pPr algn="l"/>
            <a:r>
              <a:rPr sz="1400" b="1">
                <a:solidFill>
                  <a:srgbClr val="F5A623"/>
                </a:solidFill>
                <a:latin typeface="Aptos"/>
              </a:rPr>
              <a:t>1</a:t>
            </a:r>
          </a:p>
        </p:txBody>
      </p:sp>
      <p:sp>
        <p:nvSpPr>
          <p:cNvPr id="13" name="TextBox 12"/>
          <p:cNvSpPr txBox="1"/>
          <p:nvPr/>
        </p:nvSpPr>
        <p:spPr>
          <a:xfrm>
            <a:off x="5074920" y="2084832"/>
            <a:ext cx="1188720" cy="237744"/>
          </a:xfrm>
          <a:prstGeom prst="rect">
            <a:avLst/>
          </a:prstGeom>
          <a:noFill/>
        </p:spPr>
        <p:txBody>
          <a:bodyPr wrap="square" lIns="36576" rIns="36576" tIns="36576" bIns="36576" anchor="t">
            <a:spAutoFit/>
          </a:bodyPr>
          <a:lstStyle/>
          <a:p>
            <a:pPr algn="l"/>
            <a:r>
              <a:rPr sz="1600" b="1">
                <a:solidFill>
                  <a:srgbClr val="1B2A4A"/>
                </a:solidFill>
                <a:latin typeface="Aptos"/>
              </a:rPr>
              <a:t>재배분</a:t>
            </a:r>
          </a:p>
        </p:txBody>
      </p:sp>
      <p:sp>
        <p:nvSpPr>
          <p:cNvPr id="14" name="TextBox 13"/>
          <p:cNvSpPr txBox="1"/>
          <p:nvPr/>
        </p:nvSpPr>
        <p:spPr>
          <a:xfrm>
            <a:off x="6720840" y="2093976"/>
            <a:ext cx="3840480" cy="228600"/>
          </a:xfrm>
          <a:prstGeom prst="rect">
            <a:avLst/>
          </a:prstGeom>
          <a:noFill/>
        </p:spPr>
        <p:txBody>
          <a:bodyPr wrap="square" lIns="36576" rIns="36576" tIns="36576" bIns="36576" anchor="t">
            <a:spAutoFit/>
          </a:bodyPr>
          <a:lstStyle/>
          <a:p>
            <a:pPr algn="l"/>
            <a:r>
              <a:rPr sz="1500" b="0">
                <a:solidFill>
                  <a:srgbClr val="22222A"/>
                </a:solidFill>
                <a:latin typeface="Aptos"/>
              </a:rPr>
              <a:t>고효율 채널 우선</a:t>
            </a:r>
          </a:p>
        </p:txBody>
      </p:sp>
      <p:sp>
        <p:nvSpPr>
          <p:cNvPr id="15" name="Rounded Rectangle 14"/>
          <p:cNvSpPr/>
          <p:nvPr/>
        </p:nvSpPr>
        <p:spPr>
          <a:xfrm>
            <a:off x="4224528" y="2962656"/>
            <a:ext cx="7114032" cy="832104"/>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3191256"/>
            <a:ext cx="320040" cy="228600"/>
          </a:xfrm>
          <a:prstGeom prst="rect">
            <a:avLst/>
          </a:prstGeom>
          <a:noFill/>
        </p:spPr>
        <p:txBody>
          <a:bodyPr wrap="square" lIns="36576" rIns="36576" tIns="36576" bIns="36576" anchor="t">
            <a:spAutoFit/>
          </a:bodyPr>
          <a:lstStyle/>
          <a:p>
            <a:pPr algn="l"/>
            <a:r>
              <a:rPr sz="1400" b="1">
                <a:solidFill>
                  <a:srgbClr val="F5A623"/>
                </a:solidFill>
                <a:latin typeface="Aptos"/>
              </a:rPr>
              <a:t>2</a:t>
            </a:r>
          </a:p>
        </p:txBody>
      </p:sp>
      <p:sp>
        <p:nvSpPr>
          <p:cNvPr id="17" name="TextBox 16"/>
          <p:cNvSpPr txBox="1"/>
          <p:nvPr/>
        </p:nvSpPr>
        <p:spPr>
          <a:xfrm>
            <a:off x="5074920" y="3145536"/>
            <a:ext cx="1188720" cy="237744"/>
          </a:xfrm>
          <a:prstGeom prst="rect">
            <a:avLst/>
          </a:prstGeom>
          <a:noFill/>
        </p:spPr>
        <p:txBody>
          <a:bodyPr wrap="square" lIns="36576" rIns="36576" tIns="36576" bIns="36576" anchor="t">
            <a:spAutoFit/>
          </a:bodyPr>
          <a:lstStyle/>
          <a:p>
            <a:pPr algn="l"/>
            <a:r>
              <a:rPr sz="1600" b="1">
                <a:solidFill>
                  <a:srgbClr val="1B2A4A"/>
                </a:solidFill>
                <a:latin typeface="Aptos"/>
              </a:rPr>
              <a:t>운영</a:t>
            </a:r>
          </a:p>
        </p:txBody>
      </p:sp>
      <p:sp>
        <p:nvSpPr>
          <p:cNvPr id="18" name="TextBox 17"/>
          <p:cNvSpPr txBox="1"/>
          <p:nvPr/>
        </p:nvSpPr>
        <p:spPr>
          <a:xfrm>
            <a:off x="6720840" y="3154680"/>
            <a:ext cx="3840480" cy="228600"/>
          </a:xfrm>
          <a:prstGeom prst="rect">
            <a:avLst/>
          </a:prstGeom>
          <a:noFill/>
        </p:spPr>
        <p:txBody>
          <a:bodyPr wrap="square" lIns="36576" rIns="36576" tIns="36576" bIns="36576" anchor="t">
            <a:spAutoFit/>
          </a:bodyPr>
          <a:lstStyle/>
          <a:p>
            <a:pPr algn="l"/>
            <a:r>
              <a:rPr sz="1500" b="0">
                <a:solidFill>
                  <a:srgbClr val="22222A"/>
                </a:solidFill>
                <a:latin typeface="Aptos"/>
              </a:rPr>
              <a:t>재고 회전 주간 관리</a:t>
            </a:r>
          </a:p>
        </p:txBody>
      </p:sp>
      <p:sp>
        <p:nvSpPr>
          <p:cNvPr id="19" name="Rounded Rectangle 18"/>
          <p:cNvSpPr/>
          <p:nvPr/>
        </p:nvSpPr>
        <p:spPr>
          <a:xfrm>
            <a:off x="4224528" y="4023360"/>
            <a:ext cx="7114032" cy="832104"/>
          </a:xfrm>
          <a:prstGeom prst="roundRect">
            <a:avLst/>
          </a:prstGeom>
          <a:solidFill>
            <a:srgbClr val="FFFFFF"/>
          </a:solidFill>
          <a:ln w="12700">
            <a:solidFill>
              <a:srgbClr val="E9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7992" y="4251960"/>
            <a:ext cx="320040" cy="228600"/>
          </a:xfrm>
          <a:prstGeom prst="rect">
            <a:avLst/>
          </a:prstGeom>
          <a:noFill/>
        </p:spPr>
        <p:txBody>
          <a:bodyPr wrap="square" lIns="36576" rIns="36576" tIns="36576" bIns="36576" anchor="t">
            <a:spAutoFit/>
          </a:bodyPr>
          <a:lstStyle/>
          <a:p>
            <a:pPr algn="l"/>
            <a:r>
              <a:rPr sz="1400" b="1">
                <a:solidFill>
                  <a:srgbClr val="F5A623"/>
                </a:solidFill>
                <a:latin typeface="Aptos"/>
              </a:rPr>
              <a:t>3</a:t>
            </a:r>
          </a:p>
        </p:txBody>
      </p:sp>
      <p:sp>
        <p:nvSpPr>
          <p:cNvPr id="21" name="TextBox 20"/>
          <p:cNvSpPr txBox="1"/>
          <p:nvPr/>
        </p:nvSpPr>
        <p:spPr>
          <a:xfrm>
            <a:off x="5074920" y="4206240"/>
            <a:ext cx="1188720" cy="237744"/>
          </a:xfrm>
          <a:prstGeom prst="rect">
            <a:avLst/>
          </a:prstGeom>
          <a:noFill/>
        </p:spPr>
        <p:txBody>
          <a:bodyPr wrap="square" lIns="36576" rIns="36576" tIns="36576" bIns="36576" anchor="t">
            <a:spAutoFit/>
          </a:bodyPr>
          <a:lstStyle/>
          <a:p>
            <a:pPr algn="l"/>
            <a:r>
              <a:rPr sz="1600" b="1">
                <a:solidFill>
                  <a:srgbClr val="1B2A4A"/>
                </a:solidFill>
                <a:latin typeface="Aptos"/>
              </a:rPr>
              <a:t>통제</a:t>
            </a:r>
          </a:p>
        </p:txBody>
      </p:sp>
      <p:sp>
        <p:nvSpPr>
          <p:cNvPr id="22" name="TextBox 21"/>
          <p:cNvSpPr txBox="1"/>
          <p:nvPr/>
        </p:nvSpPr>
        <p:spPr>
          <a:xfrm>
            <a:off x="6720840" y="4215384"/>
            <a:ext cx="3840480" cy="228600"/>
          </a:xfrm>
          <a:prstGeom prst="rect">
            <a:avLst/>
          </a:prstGeom>
          <a:noFill/>
        </p:spPr>
        <p:txBody>
          <a:bodyPr wrap="square" lIns="36576" rIns="36576" tIns="36576" bIns="36576" anchor="t">
            <a:spAutoFit/>
          </a:bodyPr>
          <a:lstStyle/>
          <a:p>
            <a:pPr algn="l"/>
            <a:r>
              <a:rPr sz="1500" b="0">
                <a:solidFill>
                  <a:srgbClr val="22222A"/>
                </a:solidFill>
                <a:latin typeface="Aptos"/>
              </a:rPr>
              <a:t>매출 기준 단일화·검증</a:t>
            </a:r>
          </a:p>
        </p:txBody>
      </p:sp>
      <p:sp>
        <p:nvSpPr>
          <p:cNvPr id="23" name="Rectangle 22"/>
          <p:cNvSpPr/>
          <p:nvPr/>
        </p:nvSpPr>
        <p:spPr>
          <a:xfrm>
            <a:off x="566928" y="6537960"/>
            <a:ext cx="11018520" cy="13716"/>
          </a:xfrm>
          <a:prstGeom prst="rect">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583680"/>
            <a:ext cx="4114800" cy="164592"/>
          </a:xfrm>
          <a:prstGeom prst="rect">
            <a:avLst/>
          </a:prstGeom>
          <a:noFill/>
        </p:spPr>
        <p:txBody>
          <a:bodyPr wrap="square" lIns="36576" rIns="36576" tIns="36576" bIns="36576" anchor="t">
            <a:spAutoFit/>
          </a:bodyPr>
          <a:lstStyle/>
          <a:p>
            <a:pPr algn="l"/>
            <a:r>
              <a:rPr sz="800" b="1">
                <a:solidFill>
                  <a:srgbClr val="7C93B8"/>
                </a:solidFill>
                <a:latin typeface="Aptos"/>
              </a:rPr>
              <a:t>AURORA KIT  |  출시 6주 성과 보고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685800"/>
            <a:ext cx="114300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828800" cy="256032"/>
          </a:xfrm>
          <a:prstGeom prst="rect">
            <a:avLst/>
          </a:prstGeom>
          <a:noFill/>
        </p:spPr>
        <p:txBody>
          <a:bodyPr wrap="square" lIns="36576" rIns="36576" tIns="36576" bIns="36576" anchor="t">
            <a:spAutoFit/>
          </a:bodyPr>
          <a:lstStyle/>
          <a:p>
            <a:pPr algn="l"/>
            <a:r>
              <a:rPr sz="1200" b="1">
                <a:solidFill>
                  <a:srgbClr val="F5A623"/>
                </a:solidFill>
                <a:latin typeface="Aptos"/>
              </a:rPr>
              <a:t>CLOSING</a:t>
            </a:r>
          </a:p>
        </p:txBody>
      </p:sp>
      <p:sp>
        <p:nvSpPr>
          <p:cNvPr id="5" name="TextBox 4"/>
          <p:cNvSpPr txBox="1"/>
          <p:nvPr/>
        </p:nvSpPr>
        <p:spPr>
          <a:xfrm>
            <a:off x="621792" y="1554480"/>
            <a:ext cx="8412480" cy="1389888"/>
          </a:xfrm>
          <a:prstGeom prst="rect">
            <a:avLst/>
          </a:prstGeom>
          <a:noFill/>
        </p:spPr>
        <p:txBody>
          <a:bodyPr wrap="square" lIns="36576" rIns="36576" tIns="36576" bIns="36576" anchor="t">
            <a:spAutoFit/>
          </a:bodyPr>
          <a:lstStyle/>
          <a:p>
            <a:pPr algn="l"/>
            <a:r>
              <a:rPr sz="3100" b="1">
                <a:solidFill>
                  <a:srgbClr val="FFFFFF"/>
                </a:solidFill>
                <a:latin typeface="Aptos"/>
              </a:rPr>
              <a:t>강한 초기 수요를
효율적인 성장으로 전환하겠습니다.</a:t>
            </a:r>
          </a:p>
        </p:txBody>
      </p:sp>
      <p:sp>
        <p:nvSpPr>
          <p:cNvPr id="6" name="Rounded Rectangle 5"/>
          <p:cNvSpPr/>
          <p:nvPr/>
        </p:nvSpPr>
        <p:spPr>
          <a:xfrm>
            <a:off x="640080" y="4069080"/>
            <a:ext cx="10927080" cy="987552"/>
          </a:xfrm>
          <a:prstGeom prst="roundRect">
            <a:avLst/>
          </a:prstGeom>
          <a:solidFill>
            <a:srgbClr val="24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4407408"/>
            <a:ext cx="10149840" cy="274320"/>
          </a:xfrm>
          <a:prstGeom prst="rect">
            <a:avLst/>
          </a:prstGeom>
          <a:noFill/>
        </p:spPr>
        <p:txBody>
          <a:bodyPr wrap="square" lIns="36576" rIns="36576" tIns="36576" bIns="36576" anchor="t">
            <a:spAutoFit/>
          </a:bodyPr>
          <a:lstStyle/>
          <a:p>
            <a:pPr algn="l"/>
            <a:r>
              <a:rPr sz="1600" b="1">
                <a:solidFill>
                  <a:srgbClr val="D8E1F0"/>
                </a:solidFill>
                <a:latin typeface="Aptos"/>
              </a:rPr>
              <a:t>오늘의 요청  |  8억 원 예산 승인 · 고효율 채널 재배분 · 매출 기준 단일화 검증</a:t>
            </a:r>
          </a:p>
        </p:txBody>
      </p:sp>
      <p:sp>
        <p:nvSpPr>
          <p:cNvPr id="8" name="TextBox 7"/>
          <p:cNvSpPr txBox="1"/>
          <p:nvPr/>
        </p:nvSpPr>
        <p:spPr>
          <a:xfrm>
            <a:off x="640080" y="6263640"/>
            <a:ext cx="3840480" cy="182880"/>
          </a:xfrm>
          <a:prstGeom prst="rect">
            <a:avLst/>
          </a:prstGeom>
          <a:noFill/>
        </p:spPr>
        <p:txBody>
          <a:bodyPr wrap="square" lIns="36576" rIns="36576" tIns="36576" bIns="36576" anchor="t">
            <a:spAutoFit/>
          </a:bodyPr>
          <a:lstStyle/>
          <a:p>
            <a:pPr algn="l"/>
            <a:r>
              <a:rPr sz="900" b="1">
                <a:solidFill>
                  <a:srgbClr val="A7B8D3"/>
                </a:solidFill>
                <a:latin typeface="Aptos"/>
              </a:rPr>
              <a:t>Aurora Kit  |  출시 6주 성과 보고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Aurora Kit | 출시 6주 성과 보고</dc:title>
  <dc:subject>경영진 회의용 신제품 출시 성과 및 다음 분기 의사결정 요청</dc:subject>
  <dc:creator>Aurora Kit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