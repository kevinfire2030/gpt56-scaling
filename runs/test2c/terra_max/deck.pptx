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Aurora Kit 출시 후 6주 성과를 간결히 보고드리고, 다음 분기 2차 캠페인 예산 8억 원의 재배분 결정을 요청드리겠습니다. 핵심은 초기 수요는 강했지만 채널별 수익성과 재고 회전 편차에 대응해야 한다는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구성은 네 부분입니다. 먼저 숫자로 출시 성과를 확인하고, 채널과 고객 반응에서 의미를 읽겠습니다. 이어 매출 기준과 재고의 확인 과제를 짚은 뒤, 다음 분기 실행 결정을 요청드리겠습니다.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출시 6주의 결론입니다. 12,400대를 판매하며 목표를 18% 초과했습니다. 웹 전환율은 4.2%, 반품률은 1.9%입니다. 제품 수요와 경험은 긍정적입니다. 다만 다음 단계의 성과는 예산을 모든 채널에 넓게 쓰기보다 고효율 채널에 집중하는 실행력에 달려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대비 성과를 보면 판매는 18% 초과했습니다. 누적 판매량은 12,400대입니다. 이 수치는 시장 진입과 초기 수요 검증이 성공적으로 시작됐다는 신호입니다. 이 강한 출발을 다음 분기에 더 효율적인 성장으로 전환하는 것이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브리프는 채널별 수익성과 재고 회전의 편차가 크다고 명시합니다. 세부 채널별 수치는 제공되지 않았으므로 이 슬라이드는 방향성 중심의 권고입니다. 고효율 채널에는 예산을 우선 배분하고, 개선 필요 채널은 수익성과 재고 회전의 원인을 먼저 점검해야 합니다. 공통으로는 주간 지표와 판단 기준을 맞추겠습니다.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 관점에서 세 가지 신호가 있습니다. 기업 고객 61개가 재구매 의향 조사에 응답했고, 웹 전환율은 4.2%, 반품률은 1.9%입니다. 이 결과는 제품 수용성과 구매 여정 모두에 긍정적 신호를 줍니다. 다음 캠페인에서는 이 61개 응답에서 얻는 재구매 요인을 타깃과 메시지에 반영하겠습니다.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확장 전에 명확히 관리해야 할 리스크입니다. 첫째, 누적 매출이 영업팀 주간 보고에서는 3억 원, 재무팀 마감 기준에서는 3.4억 원으로 불일치합니다. 이는 확인 필요 사항이며, 집계 기준과 시점을 정렬해 단일 기준을 확정하겠습니다. 둘째, 채널별 수익성과 재고 회전 편차입니다. 예산 재배분 전 반드시 채널별 회전과 마진을 점검하겠습니다.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요청드리는 결정은 다음 분기 추가 마케팅 예산 8억 원의 승인과 운용 원칙입니다. 첫째 고효율 채널에 우선 배분합니다. 둘째 저효율 채널은 원인 점검과 개선 조건을 충족할 때 확장합니다. 셋째 매출 기준과 재고 회전을 하나의 주간 운영 체계로 관리하겠습니다. 이를 통해 강한 초기 수요를 효율적인 성장으로 연결하겠습니다.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마무리하겠습니다. Aurora Kit은 출시 6주 동안 강한 초기 수요를 확인했습니다. 이제는 고효율 채널에 집중하고, 매출 기준과 재고 회전의 운영 신뢰도를 정렬해야 합니다. 다음 분기 8억 원 예산 승인과 이 실행 원칙에 대한 결정을 요청드립니다.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solidFill>
              <a:srgbClr val="FAF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0312" cy="6858000"/>
          </a:xfrm>
          <a:prstGeom prst="rect">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2834640" cy="320040"/>
          </a:xfrm>
          <a:prstGeom prst="rect">
            <a:avLst/>
          </a:prstGeom>
          <a:noFill/>
        </p:spPr>
        <p:txBody>
          <a:bodyPr wrap="square" lIns="45720" rIns="45720" anchor="t">
            <a:spAutoFit/>
          </a:bodyPr>
          <a:lstStyle/>
          <a:p>
            <a:pPr algn="l"/>
            <a:r>
              <a:rPr sz="1400" b="1">
                <a:solidFill>
                  <a:srgbClr val="F5A623"/>
                </a:solidFill>
                <a:latin typeface="Aptos"/>
              </a:rPr>
              <a:t>AURORA KIT</a:t>
            </a:r>
          </a:p>
        </p:txBody>
      </p:sp>
      <p:sp>
        <p:nvSpPr>
          <p:cNvPr id="5" name="TextBox 4"/>
          <p:cNvSpPr txBox="1"/>
          <p:nvPr/>
        </p:nvSpPr>
        <p:spPr>
          <a:xfrm>
            <a:off x="685800" y="1207008"/>
            <a:ext cx="7863840" cy="640080"/>
          </a:xfrm>
          <a:prstGeom prst="rect">
            <a:avLst/>
          </a:prstGeom>
          <a:noFill/>
        </p:spPr>
        <p:txBody>
          <a:bodyPr wrap="square" lIns="45720" rIns="45720" anchor="t">
            <a:spAutoFit/>
          </a:bodyPr>
          <a:lstStyle/>
          <a:p>
            <a:pPr algn="l"/>
            <a:r>
              <a:rPr sz="3400" b="1">
                <a:solidFill>
                  <a:srgbClr val="1B2A4A"/>
                </a:solidFill>
                <a:latin typeface="Aptos"/>
              </a:rPr>
              <a:t>신제품 출시 성과 보고</a:t>
            </a:r>
          </a:p>
        </p:txBody>
      </p:sp>
      <p:sp>
        <p:nvSpPr>
          <p:cNvPr id="6" name="TextBox 5"/>
          <p:cNvSpPr txBox="1"/>
          <p:nvPr/>
        </p:nvSpPr>
        <p:spPr>
          <a:xfrm>
            <a:off x="704088" y="1947672"/>
            <a:ext cx="6858000" cy="365760"/>
          </a:xfrm>
          <a:prstGeom prst="rect">
            <a:avLst/>
          </a:prstGeom>
          <a:noFill/>
        </p:spPr>
        <p:txBody>
          <a:bodyPr wrap="square" lIns="45720" rIns="45720" anchor="t">
            <a:spAutoFit/>
          </a:bodyPr>
          <a:lstStyle/>
          <a:p>
            <a:pPr algn="l"/>
            <a:r>
              <a:rPr sz="1800" b="0">
                <a:solidFill>
                  <a:srgbClr val="22222A"/>
                </a:solidFill>
                <a:latin typeface="Aptos"/>
              </a:rPr>
              <a:t>출시 6주 성과와 다음 분기 실행 결정</a:t>
            </a:r>
          </a:p>
        </p:txBody>
      </p:sp>
      <p:sp>
        <p:nvSpPr>
          <p:cNvPr id="7" name="Rectangle 6"/>
          <p:cNvSpPr/>
          <p:nvPr/>
        </p:nvSpPr>
        <p:spPr>
          <a:xfrm>
            <a:off x="704088" y="2743200"/>
            <a:ext cx="1965960" cy="45720"/>
          </a:xfrm>
          <a:prstGeom prst="rect">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5897880"/>
            <a:ext cx="2743200" cy="228600"/>
          </a:xfrm>
          <a:prstGeom prst="rect">
            <a:avLst/>
          </a:prstGeom>
          <a:noFill/>
        </p:spPr>
        <p:txBody>
          <a:bodyPr wrap="square" lIns="45720" rIns="45720" anchor="t">
            <a:spAutoFit/>
          </a:bodyPr>
          <a:lstStyle/>
          <a:p>
            <a:pPr algn="l"/>
            <a:r>
              <a:rPr sz="1200" b="1">
                <a:solidFill>
                  <a:srgbClr val="7C93B8"/>
                </a:solidFill>
                <a:latin typeface="Aptos"/>
              </a:rPr>
              <a:t>경영진 회의  |  10분</a:t>
            </a:r>
          </a:p>
        </p:txBody>
      </p:sp>
      <p:sp>
        <p:nvSpPr>
          <p:cNvPr id="9" name="Rounded Rectangle 8"/>
          <p:cNvSpPr/>
          <p:nvPr/>
        </p:nvSpPr>
        <p:spPr>
          <a:xfrm>
            <a:off x="8595360" y="4526280"/>
            <a:ext cx="228600" cy="914400"/>
          </a:xfrm>
          <a:prstGeom prst="roundRect">
            <a:avLst>
              <a:gd name="adj" fmla="val 12000"/>
            </a:avLst>
          </a:prstGeom>
          <a:solidFill>
            <a:srgbClr val="7C93B8"/>
          </a:solidFill>
          <a:ln>
            <a:solidFill>
              <a:srgbClr val="7C9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979408" y="3886200"/>
            <a:ext cx="228600" cy="1554480"/>
          </a:xfrm>
          <a:prstGeom prst="roundRect">
            <a:avLst>
              <a:gd name="adj" fmla="val 12000"/>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63456" y="3291840"/>
            <a:ext cx="228600" cy="2148840"/>
          </a:xfrm>
          <a:prstGeom prst="roundRect">
            <a:avLst>
              <a:gd name="adj" fmla="val 12000"/>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47504" y="3017520"/>
            <a:ext cx="228600" cy="2423160"/>
          </a:xfrm>
          <a:prstGeom prst="roundRect">
            <a:avLst>
              <a:gd name="adj" fmla="val 12000"/>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131552" y="2651760"/>
            <a:ext cx="228600" cy="2788920"/>
          </a:xfrm>
          <a:prstGeom prst="roundRect">
            <a:avLst>
              <a:gd name="adj" fmla="val 12000"/>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515600" y="2194560"/>
            <a:ext cx="228600" cy="3246120"/>
          </a:xfrm>
          <a:prstGeom prst="roundRect">
            <a:avLst>
              <a:gd name="adj" fmla="val 12000"/>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5760720"/>
            <a:ext cx="2651760" cy="320040"/>
          </a:xfrm>
          <a:prstGeom prst="rect">
            <a:avLst/>
          </a:prstGeom>
          <a:noFill/>
        </p:spPr>
        <p:txBody>
          <a:bodyPr wrap="square" lIns="45720" rIns="45720" anchor="t">
            <a:spAutoFit/>
          </a:bodyPr>
          <a:lstStyle/>
          <a:p>
            <a:pPr algn="ctr"/>
            <a:r>
              <a:rPr sz="1300" b="1">
                <a:solidFill>
                  <a:srgbClr val="1B2A4A"/>
                </a:solidFill>
                <a:latin typeface="Aptos"/>
              </a:rPr>
              <a:t>6 WEEKS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solidFill>
              <a:srgbClr val="FAF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457200" cy="274320"/>
          </a:xfrm>
          <a:prstGeom prst="rect">
            <a:avLst/>
          </a:prstGeom>
          <a:noFill/>
        </p:spPr>
        <p:txBody>
          <a:bodyPr wrap="square" lIns="45720" rIns="45720" anchor="t">
            <a:spAutoFit/>
          </a:bodyPr>
          <a:lstStyle/>
          <a:p>
            <a:pPr algn="l"/>
            <a:r>
              <a:rPr sz="1000" b="1">
                <a:solidFill>
                  <a:srgbClr val="F5A623"/>
                </a:solidFill>
                <a:latin typeface="Aptos"/>
              </a:rPr>
              <a:t>02</a:t>
            </a:r>
          </a:p>
        </p:txBody>
      </p:sp>
      <p:sp>
        <p:nvSpPr>
          <p:cNvPr id="4" name="TextBox 3"/>
          <p:cNvSpPr txBox="1"/>
          <p:nvPr/>
        </p:nvSpPr>
        <p:spPr>
          <a:xfrm>
            <a:off x="502920" y="621792"/>
            <a:ext cx="11064240" cy="502920"/>
          </a:xfrm>
          <a:prstGeom prst="rect">
            <a:avLst/>
          </a:prstGeom>
          <a:noFill/>
        </p:spPr>
        <p:txBody>
          <a:bodyPr wrap="square" lIns="45720" rIns="45720" anchor="t">
            <a:spAutoFit/>
          </a:bodyPr>
          <a:lstStyle/>
          <a:p>
            <a:pPr algn="l"/>
            <a:r>
              <a:rPr sz="2700" b="1">
                <a:solidFill>
                  <a:srgbClr val="1B2A4A"/>
                </a:solidFill>
                <a:latin typeface="Aptos"/>
              </a:rPr>
              <a:t>오늘의 논의: 성과 확인에서 실행 결정까지</a:t>
            </a:r>
          </a:p>
        </p:txBody>
      </p:sp>
      <p:sp>
        <p:nvSpPr>
          <p:cNvPr id="5" name="TextBox 4"/>
          <p:cNvSpPr txBox="1"/>
          <p:nvPr/>
        </p:nvSpPr>
        <p:spPr>
          <a:xfrm>
            <a:off x="521207" y="1170432"/>
            <a:ext cx="10789920" cy="256032"/>
          </a:xfrm>
          <a:prstGeom prst="rect">
            <a:avLst/>
          </a:prstGeom>
          <a:noFill/>
        </p:spPr>
        <p:txBody>
          <a:bodyPr wrap="square" lIns="45720" rIns="45720" anchor="t">
            <a:spAutoFit/>
          </a:bodyPr>
          <a:lstStyle/>
          <a:p>
            <a:pPr algn="l"/>
            <a:r>
              <a:rPr sz="1100" b="0">
                <a:solidFill>
                  <a:srgbClr val="64748B"/>
                </a:solidFill>
                <a:latin typeface="Aptos"/>
              </a:rPr>
              <a:t>10분 | 성과 4분 · 시사점/리스크 3분 · 의사결정 3분</a:t>
            </a:r>
          </a:p>
        </p:txBody>
      </p:sp>
      <p:sp>
        <p:nvSpPr>
          <p:cNvPr id="6" name="Rectangle 5"/>
          <p:cNvSpPr/>
          <p:nvPr/>
        </p:nvSpPr>
        <p:spPr>
          <a:xfrm>
            <a:off x="502920" y="1508760"/>
            <a:ext cx="11109960" cy="22860"/>
          </a:xfrm>
          <a:prstGeom prst="rect">
            <a:avLst/>
          </a:prstGeom>
          <a:solidFill>
            <a:srgbClr val="E9EEF5"/>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874519"/>
            <a:ext cx="5166360" cy="1417320"/>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103120"/>
            <a:ext cx="502920" cy="256032"/>
          </a:xfrm>
          <a:prstGeom prst="rect">
            <a:avLst/>
          </a:prstGeom>
          <a:noFill/>
        </p:spPr>
        <p:txBody>
          <a:bodyPr wrap="square" lIns="45720" rIns="45720" anchor="t">
            <a:spAutoFit/>
          </a:bodyPr>
          <a:lstStyle/>
          <a:p>
            <a:pPr algn="l"/>
            <a:r>
              <a:rPr sz="1300" b="1">
                <a:solidFill>
                  <a:srgbClr val="F5A623"/>
                </a:solidFill>
                <a:latin typeface="Aptos"/>
              </a:rPr>
              <a:t>01</a:t>
            </a:r>
          </a:p>
        </p:txBody>
      </p:sp>
      <p:sp>
        <p:nvSpPr>
          <p:cNvPr id="9" name="TextBox 8"/>
          <p:cNvSpPr txBox="1"/>
          <p:nvPr/>
        </p:nvSpPr>
        <p:spPr>
          <a:xfrm>
            <a:off x="896112" y="2441448"/>
            <a:ext cx="4389120" cy="320040"/>
          </a:xfrm>
          <a:prstGeom prst="rect">
            <a:avLst/>
          </a:prstGeom>
          <a:noFill/>
        </p:spPr>
        <p:txBody>
          <a:bodyPr wrap="square" lIns="45720" rIns="45720" anchor="t">
            <a:spAutoFit/>
          </a:bodyPr>
          <a:lstStyle/>
          <a:p>
            <a:pPr algn="l"/>
            <a:r>
              <a:rPr sz="1900" b="1">
                <a:solidFill>
                  <a:srgbClr val="1B2A4A"/>
                </a:solidFill>
                <a:latin typeface="Aptos"/>
              </a:rPr>
              <a:t>출시 성과 요약</a:t>
            </a:r>
          </a:p>
        </p:txBody>
      </p:sp>
      <p:sp>
        <p:nvSpPr>
          <p:cNvPr id="10" name="TextBox 9"/>
          <p:cNvSpPr txBox="1"/>
          <p:nvPr/>
        </p:nvSpPr>
        <p:spPr>
          <a:xfrm>
            <a:off x="896112" y="2862072"/>
            <a:ext cx="4526280" cy="228600"/>
          </a:xfrm>
          <a:prstGeom prst="rect">
            <a:avLst/>
          </a:prstGeom>
          <a:noFill/>
        </p:spPr>
        <p:txBody>
          <a:bodyPr wrap="square" lIns="45720" rIns="45720" anchor="t">
            <a:spAutoFit/>
          </a:bodyPr>
          <a:lstStyle/>
          <a:p>
            <a:pPr algn="l"/>
            <a:r>
              <a:rPr sz="1100" b="0">
                <a:solidFill>
                  <a:srgbClr val="64748B"/>
                </a:solidFill>
                <a:latin typeface="Aptos"/>
              </a:rPr>
              <a:t>초기 수요와 핵심 KPI</a:t>
            </a:r>
          </a:p>
        </p:txBody>
      </p:sp>
      <p:sp>
        <p:nvSpPr>
          <p:cNvPr id="11" name="Rounded Rectangle 10"/>
          <p:cNvSpPr/>
          <p:nvPr/>
        </p:nvSpPr>
        <p:spPr>
          <a:xfrm>
            <a:off x="6263640" y="1874519"/>
            <a:ext cx="5166360" cy="1417320"/>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2103120"/>
            <a:ext cx="502920" cy="256032"/>
          </a:xfrm>
          <a:prstGeom prst="rect">
            <a:avLst/>
          </a:prstGeom>
          <a:noFill/>
        </p:spPr>
        <p:txBody>
          <a:bodyPr wrap="square" lIns="45720" rIns="45720" anchor="t">
            <a:spAutoFit/>
          </a:bodyPr>
          <a:lstStyle/>
          <a:p>
            <a:pPr algn="l"/>
            <a:r>
              <a:rPr sz="1300" b="1">
                <a:solidFill>
                  <a:srgbClr val="F5A623"/>
                </a:solidFill>
                <a:latin typeface="Aptos"/>
              </a:rPr>
              <a:t>02</a:t>
            </a:r>
          </a:p>
        </p:txBody>
      </p:sp>
      <p:sp>
        <p:nvSpPr>
          <p:cNvPr id="13" name="TextBox 12"/>
          <p:cNvSpPr txBox="1"/>
          <p:nvPr/>
        </p:nvSpPr>
        <p:spPr>
          <a:xfrm>
            <a:off x="6519672" y="2441448"/>
            <a:ext cx="4389120" cy="320040"/>
          </a:xfrm>
          <a:prstGeom prst="rect">
            <a:avLst/>
          </a:prstGeom>
          <a:noFill/>
        </p:spPr>
        <p:txBody>
          <a:bodyPr wrap="square" lIns="45720" rIns="45720" anchor="t">
            <a:spAutoFit/>
          </a:bodyPr>
          <a:lstStyle/>
          <a:p>
            <a:pPr algn="l"/>
            <a:r>
              <a:rPr sz="1900" b="1">
                <a:solidFill>
                  <a:srgbClr val="1B2A4A"/>
                </a:solidFill>
                <a:latin typeface="Aptos"/>
              </a:rPr>
              <a:t>채널·고객 시사점</a:t>
            </a:r>
          </a:p>
        </p:txBody>
      </p:sp>
      <p:sp>
        <p:nvSpPr>
          <p:cNvPr id="14" name="TextBox 13"/>
          <p:cNvSpPr txBox="1"/>
          <p:nvPr/>
        </p:nvSpPr>
        <p:spPr>
          <a:xfrm>
            <a:off x="6519672" y="2862072"/>
            <a:ext cx="4526280" cy="228600"/>
          </a:xfrm>
          <a:prstGeom prst="rect">
            <a:avLst/>
          </a:prstGeom>
          <a:noFill/>
        </p:spPr>
        <p:txBody>
          <a:bodyPr wrap="square" lIns="45720" rIns="45720" anchor="t">
            <a:spAutoFit/>
          </a:bodyPr>
          <a:lstStyle/>
          <a:p>
            <a:pPr algn="l"/>
            <a:r>
              <a:rPr sz="1100" b="0">
                <a:solidFill>
                  <a:srgbClr val="64748B"/>
                </a:solidFill>
                <a:latin typeface="Aptos"/>
              </a:rPr>
              <a:t>효율의 차이와 고객 신호</a:t>
            </a:r>
          </a:p>
        </p:txBody>
      </p:sp>
      <p:sp>
        <p:nvSpPr>
          <p:cNvPr id="15" name="Rounded Rectangle 14"/>
          <p:cNvSpPr/>
          <p:nvPr/>
        </p:nvSpPr>
        <p:spPr>
          <a:xfrm>
            <a:off x="640080" y="3749039"/>
            <a:ext cx="5166360" cy="1417320"/>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977639"/>
            <a:ext cx="502920" cy="256032"/>
          </a:xfrm>
          <a:prstGeom prst="rect">
            <a:avLst/>
          </a:prstGeom>
          <a:noFill/>
        </p:spPr>
        <p:txBody>
          <a:bodyPr wrap="square" lIns="45720" rIns="45720" anchor="t">
            <a:spAutoFit/>
          </a:bodyPr>
          <a:lstStyle/>
          <a:p>
            <a:pPr algn="l"/>
            <a:r>
              <a:rPr sz="1300" b="1">
                <a:solidFill>
                  <a:srgbClr val="F5A623"/>
                </a:solidFill>
                <a:latin typeface="Aptos"/>
              </a:rPr>
              <a:t>03</a:t>
            </a:r>
          </a:p>
        </p:txBody>
      </p:sp>
      <p:sp>
        <p:nvSpPr>
          <p:cNvPr id="17" name="TextBox 16"/>
          <p:cNvSpPr txBox="1"/>
          <p:nvPr/>
        </p:nvSpPr>
        <p:spPr>
          <a:xfrm>
            <a:off x="896112" y="4315968"/>
            <a:ext cx="4389120" cy="320040"/>
          </a:xfrm>
          <a:prstGeom prst="rect">
            <a:avLst/>
          </a:prstGeom>
          <a:noFill/>
        </p:spPr>
        <p:txBody>
          <a:bodyPr wrap="square" lIns="45720" rIns="45720" anchor="t">
            <a:spAutoFit/>
          </a:bodyPr>
          <a:lstStyle/>
          <a:p>
            <a:pPr algn="l"/>
            <a:r>
              <a:rPr sz="1900" b="1">
                <a:solidFill>
                  <a:srgbClr val="1B2A4A"/>
                </a:solidFill>
                <a:latin typeface="Aptos"/>
              </a:rPr>
              <a:t>리스크와 확인 과제</a:t>
            </a:r>
          </a:p>
        </p:txBody>
      </p:sp>
      <p:sp>
        <p:nvSpPr>
          <p:cNvPr id="18" name="TextBox 17"/>
          <p:cNvSpPr txBox="1"/>
          <p:nvPr/>
        </p:nvSpPr>
        <p:spPr>
          <a:xfrm>
            <a:off x="896112" y="4736592"/>
            <a:ext cx="4526280" cy="228600"/>
          </a:xfrm>
          <a:prstGeom prst="rect">
            <a:avLst/>
          </a:prstGeom>
          <a:noFill/>
        </p:spPr>
        <p:txBody>
          <a:bodyPr wrap="square" lIns="45720" rIns="45720" anchor="t">
            <a:spAutoFit/>
          </a:bodyPr>
          <a:lstStyle/>
          <a:p>
            <a:pPr algn="l"/>
            <a:r>
              <a:rPr sz="1100" b="0">
                <a:solidFill>
                  <a:srgbClr val="64748B"/>
                </a:solidFill>
                <a:latin typeface="Aptos"/>
              </a:rPr>
              <a:t>매출 기준 불일치, 재고 회전</a:t>
            </a:r>
          </a:p>
        </p:txBody>
      </p:sp>
      <p:sp>
        <p:nvSpPr>
          <p:cNvPr id="19" name="Rounded Rectangle 18"/>
          <p:cNvSpPr/>
          <p:nvPr/>
        </p:nvSpPr>
        <p:spPr>
          <a:xfrm>
            <a:off x="6263640" y="3749039"/>
            <a:ext cx="5166360" cy="1417320"/>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19672" y="3977639"/>
            <a:ext cx="502920" cy="256032"/>
          </a:xfrm>
          <a:prstGeom prst="rect">
            <a:avLst/>
          </a:prstGeom>
          <a:noFill/>
        </p:spPr>
        <p:txBody>
          <a:bodyPr wrap="square" lIns="45720" rIns="45720" anchor="t">
            <a:spAutoFit/>
          </a:bodyPr>
          <a:lstStyle/>
          <a:p>
            <a:pPr algn="l"/>
            <a:r>
              <a:rPr sz="1300" b="1">
                <a:solidFill>
                  <a:srgbClr val="F5A623"/>
                </a:solidFill>
                <a:latin typeface="Aptos"/>
              </a:rPr>
              <a:t>04</a:t>
            </a:r>
          </a:p>
        </p:txBody>
      </p:sp>
      <p:sp>
        <p:nvSpPr>
          <p:cNvPr id="21" name="TextBox 20"/>
          <p:cNvSpPr txBox="1"/>
          <p:nvPr/>
        </p:nvSpPr>
        <p:spPr>
          <a:xfrm>
            <a:off x="6519672" y="4315968"/>
            <a:ext cx="4389120" cy="320040"/>
          </a:xfrm>
          <a:prstGeom prst="rect">
            <a:avLst/>
          </a:prstGeom>
          <a:noFill/>
        </p:spPr>
        <p:txBody>
          <a:bodyPr wrap="square" lIns="45720" rIns="45720" anchor="t">
            <a:spAutoFit/>
          </a:bodyPr>
          <a:lstStyle/>
          <a:p>
            <a:pPr algn="l"/>
            <a:r>
              <a:rPr sz="1900" b="1">
                <a:solidFill>
                  <a:srgbClr val="1B2A4A"/>
                </a:solidFill>
                <a:latin typeface="Aptos"/>
              </a:rPr>
              <a:t>다음 분기 결정 요청</a:t>
            </a:r>
          </a:p>
        </p:txBody>
      </p:sp>
      <p:sp>
        <p:nvSpPr>
          <p:cNvPr id="22" name="TextBox 21"/>
          <p:cNvSpPr txBox="1"/>
          <p:nvPr/>
        </p:nvSpPr>
        <p:spPr>
          <a:xfrm>
            <a:off x="6519672" y="4736592"/>
            <a:ext cx="4526280" cy="228600"/>
          </a:xfrm>
          <a:prstGeom prst="rect">
            <a:avLst/>
          </a:prstGeom>
          <a:noFill/>
        </p:spPr>
        <p:txBody>
          <a:bodyPr wrap="square" lIns="45720" rIns="45720" anchor="t">
            <a:spAutoFit/>
          </a:bodyPr>
          <a:lstStyle/>
          <a:p>
            <a:pPr algn="l"/>
            <a:r>
              <a:rPr sz="1100" b="0">
                <a:solidFill>
                  <a:srgbClr val="64748B"/>
                </a:solidFill>
                <a:latin typeface="Aptos"/>
              </a:rPr>
              <a:t>고효율 채널 중심 2차 캠페인</a:t>
            </a:r>
          </a:p>
        </p:txBody>
      </p:sp>
      <p:sp>
        <p:nvSpPr>
          <p:cNvPr id="23" name="TextBox 22"/>
          <p:cNvSpPr txBox="1"/>
          <p:nvPr/>
        </p:nvSpPr>
        <p:spPr>
          <a:xfrm>
            <a:off x="521207" y="6473952"/>
            <a:ext cx="3657600" cy="164592"/>
          </a:xfrm>
          <a:prstGeom prst="rect">
            <a:avLst/>
          </a:prstGeom>
          <a:noFill/>
        </p:spPr>
        <p:txBody>
          <a:bodyPr wrap="square" lIns="45720" rIns="45720" anchor="t">
            <a:spAutoFit/>
          </a:bodyPr>
          <a:lstStyle/>
          <a:p>
            <a:pPr algn="l"/>
            <a:r>
              <a:rPr sz="800" b="1">
                <a:solidFill>
                  <a:srgbClr val="7C93B8"/>
                </a:solidFill>
                <a:latin typeface="Aptos"/>
              </a:rPr>
              <a:t>AURORA KIT  |  출시 6주 성과</a:t>
            </a:r>
          </a:p>
        </p:txBody>
      </p:sp>
      <p:sp>
        <p:nvSpPr>
          <p:cNvPr id="24" name="TextBox 23"/>
          <p:cNvSpPr txBox="1"/>
          <p:nvPr/>
        </p:nvSpPr>
        <p:spPr>
          <a:xfrm>
            <a:off x="10744200" y="6473952"/>
            <a:ext cx="822960" cy="164592"/>
          </a:xfrm>
          <a:prstGeom prst="rect">
            <a:avLst/>
          </a:prstGeom>
          <a:noFill/>
        </p:spPr>
        <p:txBody>
          <a:bodyPr wrap="square" lIns="45720" rIns="45720" anchor="t">
            <a:spAutoFit/>
          </a:bodyPr>
          <a:lstStyle/>
          <a:p>
            <a:pPr algn="r"/>
            <a:r>
              <a:rPr sz="800" b="1">
                <a:solidFill>
                  <a:srgbClr val="7C93B8"/>
                </a:solidFill>
                <a:latin typeface="Aptos"/>
              </a:rPr>
              <a:t>2 / 09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solidFill>
              <a:srgbClr val="FAF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457200" cy="274320"/>
          </a:xfrm>
          <a:prstGeom prst="rect">
            <a:avLst/>
          </a:prstGeom>
          <a:noFill/>
        </p:spPr>
        <p:txBody>
          <a:bodyPr wrap="square" lIns="45720" rIns="45720" anchor="t">
            <a:spAutoFit/>
          </a:bodyPr>
          <a:lstStyle/>
          <a:p>
            <a:pPr algn="l"/>
            <a:r>
              <a:rPr sz="1000" b="1">
                <a:solidFill>
                  <a:srgbClr val="F5A623"/>
                </a:solidFill>
                <a:latin typeface="Aptos"/>
              </a:rPr>
              <a:t>03</a:t>
            </a:r>
          </a:p>
        </p:txBody>
      </p:sp>
      <p:sp>
        <p:nvSpPr>
          <p:cNvPr id="4" name="TextBox 3"/>
          <p:cNvSpPr txBox="1"/>
          <p:nvPr/>
        </p:nvSpPr>
        <p:spPr>
          <a:xfrm>
            <a:off x="502920" y="621792"/>
            <a:ext cx="11064240" cy="502920"/>
          </a:xfrm>
          <a:prstGeom prst="rect">
            <a:avLst/>
          </a:prstGeom>
          <a:noFill/>
        </p:spPr>
        <p:txBody>
          <a:bodyPr wrap="square" lIns="45720" rIns="45720" anchor="t">
            <a:spAutoFit/>
          </a:bodyPr>
          <a:lstStyle/>
          <a:p>
            <a:pPr algn="l"/>
            <a:r>
              <a:rPr sz="2700" b="1">
                <a:solidFill>
                  <a:srgbClr val="1B2A4A"/>
                </a:solidFill>
                <a:latin typeface="Aptos"/>
              </a:rPr>
              <a:t>출시 6주: 수요는 강하고, 실행은 선택과 집중이 필요합니다</a:t>
            </a:r>
          </a:p>
        </p:txBody>
      </p:sp>
      <p:sp>
        <p:nvSpPr>
          <p:cNvPr id="5" name="TextBox 4"/>
          <p:cNvSpPr txBox="1"/>
          <p:nvPr/>
        </p:nvSpPr>
        <p:spPr>
          <a:xfrm>
            <a:off x="521207" y="1170432"/>
            <a:ext cx="10789920" cy="256032"/>
          </a:xfrm>
          <a:prstGeom prst="rect">
            <a:avLst/>
          </a:prstGeom>
          <a:noFill/>
        </p:spPr>
        <p:txBody>
          <a:bodyPr wrap="square" lIns="45720" rIns="45720" anchor="t">
            <a:spAutoFit/>
          </a:bodyPr>
          <a:lstStyle/>
          <a:p>
            <a:pPr algn="l"/>
            <a:r>
              <a:rPr sz="1100" b="0">
                <a:solidFill>
                  <a:srgbClr val="64748B"/>
                </a:solidFill>
                <a:latin typeface="Aptos"/>
              </a:rPr>
              <a:t>핵심 메시지</a:t>
            </a:r>
          </a:p>
        </p:txBody>
      </p:sp>
      <p:sp>
        <p:nvSpPr>
          <p:cNvPr id="6" name="Rectangle 5"/>
          <p:cNvSpPr/>
          <p:nvPr/>
        </p:nvSpPr>
        <p:spPr>
          <a:xfrm>
            <a:off x="502920" y="1508760"/>
            <a:ext cx="11109960" cy="22860"/>
          </a:xfrm>
          <a:prstGeom prst="rect">
            <a:avLst/>
          </a:prstGeom>
          <a:solidFill>
            <a:srgbClr val="E9EEF5"/>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874519"/>
            <a:ext cx="2560320" cy="1508760"/>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74519"/>
            <a:ext cx="73152" cy="1508760"/>
          </a:xfrm>
          <a:prstGeom prst="roundRect">
            <a:avLst>
              <a:gd name="adj" fmla="val 12000"/>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84831"/>
            <a:ext cx="2121408" cy="384048"/>
          </a:xfrm>
          <a:prstGeom prst="rect">
            <a:avLst/>
          </a:prstGeom>
          <a:noFill/>
        </p:spPr>
        <p:txBody>
          <a:bodyPr wrap="square" lIns="45720" rIns="45720" anchor="t">
            <a:spAutoFit/>
          </a:bodyPr>
          <a:lstStyle/>
          <a:p>
            <a:pPr algn="l"/>
            <a:r>
              <a:rPr sz="2500" b="1">
                <a:solidFill>
                  <a:srgbClr val="F5A623"/>
                </a:solidFill>
                <a:latin typeface="Aptos"/>
              </a:rPr>
              <a:t>12,400대</a:t>
            </a:r>
          </a:p>
        </p:txBody>
      </p:sp>
      <p:sp>
        <p:nvSpPr>
          <p:cNvPr id="10" name="TextBox 9"/>
          <p:cNvSpPr txBox="1"/>
          <p:nvPr/>
        </p:nvSpPr>
        <p:spPr>
          <a:xfrm>
            <a:off x="914400" y="2587752"/>
            <a:ext cx="2121408" cy="292608"/>
          </a:xfrm>
          <a:prstGeom prst="rect">
            <a:avLst/>
          </a:prstGeom>
          <a:noFill/>
        </p:spPr>
        <p:txBody>
          <a:bodyPr wrap="square" lIns="45720" rIns="45720" anchor="t">
            <a:spAutoFit/>
          </a:bodyPr>
          <a:lstStyle/>
          <a:p>
            <a:pPr algn="l"/>
            <a:r>
              <a:rPr sz="1200" b="1">
                <a:solidFill>
                  <a:srgbClr val="22222A"/>
                </a:solidFill>
                <a:latin typeface="Aptos"/>
              </a:rPr>
              <a:t>누적 판매량</a:t>
            </a:r>
          </a:p>
        </p:txBody>
      </p:sp>
      <p:sp>
        <p:nvSpPr>
          <p:cNvPr id="11" name="TextBox 10"/>
          <p:cNvSpPr txBox="1"/>
          <p:nvPr/>
        </p:nvSpPr>
        <p:spPr>
          <a:xfrm>
            <a:off x="914400" y="2907791"/>
            <a:ext cx="2121408" cy="228600"/>
          </a:xfrm>
          <a:prstGeom prst="rect">
            <a:avLst/>
          </a:prstGeom>
          <a:noFill/>
        </p:spPr>
        <p:txBody>
          <a:bodyPr wrap="square" lIns="45720" rIns="45720" anchor="t">
            <a:spAutoFit/>
          </a:bodyPr>
          <a:lstStyle/>
          <a:p>
            <a:pPr algn="l"/>
            <a:r>
              <a:rPr sz="1000" b="0">
                <a:solidFill>
                  <a:srgbClr val="64748B"/>
                </a:solidFill>
                <a:latin typeface="Aptos"/>
              </a:rPr>
              <a:t>출시 후 6주</a:t>
            </a:r>
          </a:p>
        </p:txBody>
      </p:sp>
      <p:sp>
        <p:nvSpPr>
          <p:cNvPr id="12" name="Rounded Rectangle 11"/>
          <p:cNvSpPr/>
          <p:nvPr/>
        </p:nvSpPr>
        <p:spPr>
          <a:xfrm>
            <a:off x="3429000" y="1874519"/>
            <a:ext cx="2560320" cy="1508760"/>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29000" y="1874519"/>
            <a:ext cx="73152" cy="1508760"/>
          </a:xfrm>
          <a:prstGeom prst="roundRect">
            <a:avLst>
              <a:gd name="adj" fmla="val 12000"/>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85032" y="2084831"/>
            <a:ext cx="2121408" cy="384048"/>
          </a:xfrm>
          <a:prstGeom prst="rect">
            <a:avLst/>
          </a:prstGeom>
          <a:noFill/>
        </p:spPr>
        <p:txBody>
          <a:bodyPr wrap="square" lIns="45720" rIns="45720" anchor="t">
            <a:spAutoFit/>
          </a:bodyPr>
          <a:lstStyle/>
          <a:p>
            <a:pPr algn="l"/>
            <a:r>
              <a:rPr sz="2500" b="1">
                <a:solidFill>
                  <a:srgbClr val="1B2A4A"/>
                </a:solidFill>
                <a:latin typeface="Aptos"/>
              </a:rPr>
              <a:t>+18%</a:t>
            </a:r>
          </a:p>
        </p:txBody>
      </p:sp>
      <p:sp>
        <p:nvSpPr>
          <p:cNvPr id="15" name="TextBox 14"/>
          <p:cNvSpPr txBox="1"/>
          <p:nvPr/>
        </p:nvSpPr>
        <p:spPr>
          <a:xfrm>
            <a:off x="3685032" y="2587752"/>
            <a:ext cx="2121408" cy="292608"/>
          </a:xfrm>
          <a:prstGeom prst="rect">
            <a:avLst/>
          </a:prstGeom>
          <a:noFill/>
        </p:spPr>
        <p:txBody>
          <a:bodyPr wrap="square" lIns="45720" rIns="45720" anchor="t">
            <a:spAutoFit/>
          </a:bodyPr>
          <a:lstStyle/>
          <a:p>
            <a:pPr algn="l"/>
            <a:r>
              <a:rPr sz="1200" b="1">
                <a:solidFill>
                  <a:srgbClr val="22222A"/>
                </a:solidFill>
                <a:latin typeface="Aptos"/>
              </a:rPr>
              <a:t>목표 대비 판매 초과율</a:t>
            </a:r>
          </a:p>
        </p:txBody>
      </p:sp>
      <p:sp>
        <p:nvSpPr>
          <p:cNvPr id="16" name="TextBox 15"/>
          <p:cNvSpPr txBox="1"/>
          <p:nvPr/>
        </p:nvSpPr>
        <p:spPr>
          <a:xfrm>
            <a:off x="3685032" y="2907791"/>
            <a:ext cx="2121408" cy="228600"/>
          </a:xfrm>
          <a:prstGeom prst="rect">
            <a:avLst/>
          </a:prstGeom>
          <a:noFill/>
        </p:spPr>
        <p:txBody>
          <a:bodyPr wrap="square" lIns="45720" rIns="45720" anchor="t">
            <a:spAutoFit/>
          </a:bodyPr>
          <a:lstStyle/>
          <a:p>
            <a:pPr algn="l"/>
            <a:r>
              <a:rPr sz="1000" b="0">
                <a:solidFill>
                  <a:srgbClr val="64748B"/>
                </a:solidFill>
                <a:latin typeface="Aptos"/>
              </a:rPr>
              <a:t>예상 상회</a:t>
            </a:r>
          </a:p>
        </p:txBody>
      </p:sp>
      <p:sp>
        <p:nvSpPr>
          <p:cNvPr id="17" name="Rounded Rectangle 16"/>
          <p:cNvSpPr/>
          <p:nvPr/>
        </p:nvSpPr>
        <p:spPr>
          <a:xfrm>
            <a:off x="6199632" y="1874519"/>
            <a:ext cx="2560320" cy="1508760"/>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99632" y="1874519"/>
            <a:ext cx="73152" cy="1508760"/>
          </a:xfrm>
          <a:prstGeom prst="roundRect">
            <a:avLst>
              <a:gd name="adj" fmla="val 12000"/>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55664" y="2084831"/>
            <a:ext cx="2121408" cy="384048"/>
          </a:xfrm>
          <a:prstGeom prst="rect">
            <a:avLst/>
          </a:prstGeom>
          <a:noFill/>
        </p:spPr>
        <p:txBody>
          <a:bodyPr wrap="square" lIns="45720" rIns="45720" anchor="t">
            <a:spAutoFit/>
          </a:bodyPr>
          <a:lstStyle/>
          <a:p>
            <a:pPr algn="l"/>
            <a:r>
              <a:rPr sz="2500" b="1">
                <a:solidFill>
                  <a:srgbClr val="1B2A4A"/>
                </a:solidFill>
                <a:latin typeface="Aptos"/>
              </a:rPr>
              <a:t>4.2%</a:t>
            </a:r>
          </a:p>
        </p:txBody>
      </p:sp>
      <p:sp>
        <p:nvSpPr>
          <p:cNvPr id="20" name="TextBox 19"/>
          <p:cNvSpPr txBox="1"/>
          <p:nvPr/>
        </p:nvSpPr>
        <p:spPr>
          <a:xfrm>
            <a:off x="6455664" y="2587752"/>
            <a:ext cx="2121408" cy="292608"/>
          </a:xfrm>
          <a:prstGeom prst="rect">
            <a:avLst/>
          </a:prstGeom>
          <a:noFill/>
        </p:spPr>
        <p:txBody>
          <a:bodyPr wrap="square" lIns="45720" rIns="45720" anchor="t">
            <a:spAutoFit/>
          </a:bodyPr>
          <a:lstStyle/>
          <a:p>
            <a:pPr algn="l"/>
            <a:r>
              <a:rPr sz="1200" b="1">
                <a:solidFill>
                  <a:srgbClr val="22222A"/>
                </a:solidFill>
                <a:latin typeface="Aptos"/>
              </a:rPr>
              <a:t>웹 방문 대비 구매 전환율</a:t>
            </a:r>
          </a:p>
        </p:txBody>
      </p:sp>
      <p:sp>
        <p:nvSpPr>
          <p:cNvPr id="21" name="TextBox 20"/>
          <p:cNvSpPr txBox="1"/>
          <p:nvPr/>
        </p:nvSpPr>
        <p:spPr>
          <a:xfrm>
            <a:off x="6455664" y="2907791"/>
            <a:ext cx="2121408" cy="228600"/>
          </a:xfrm>
          <a:prstGeom prst="rect">
            <a:avLst/>
          </a:prstGeom>
          <a:noFill/>
        </p:spPr>
        <p:txBody>
          <a:bodyPr wrap="square" lIns="45720" rIns="45720" anchor="t">
            <a:spAutoFit/>
          </a:bodyPr>
          <a:lstStyle/>
          <a:p>
            <a:pPr algn="l"/>
            <a:r>
              <a:rPr sz="1000" b="0">
                <a:solidFill>
                  <a:srgbClr val="64748B"/>
                </a:solidFill>
                <a:latin typeface="Aptos"/>
              </a:rPr>
              <a:t>디지털 구매 신호</a:t>
            </a:r>
          </a:p>
        </p:txBody>
      </p:sp>
      <p:sp>
        <p:nvSpPr>
          <p:cNvPr id="22" name="Rounded Rectangle 21"/>
          <p:cNvSpPr/>
          <p:nvPr/>
        </p:nvSpPr>
        <p:spPr>
          <a:xfrm>
            <a:off x="8970264" y="1874519"/>
            <a:ext cx="2560320" cy="1508760"/>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970264" y="1874519"/>
            <a:ext cx="73152" cy="1508760"/>
          </a:xfrm>
          <a:prstGeom prst="roundRect">
            <a:avLst>
              <a:gd name="adj" fmla="val 12000"/>
            </a:avLst>
          </a:prstGeom>
          <a:solidFill>
            <a:srgbClr val="7C93B8"/>
          </a:solidFill>
          <a:ln>
            <a:solidFill>
              <a:srgbClr val="7C9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26296" y="2084831"/>
            <a:ext cx="2121408" cy="384048"/>
          </a:xfrm>
          <a:prstGeom prst="rect">
            <a:avLst/>
          </a:prstGeom>
          <a:noFill/>
        </p:spPr>
        <p:txBody>
          <a:bodyPr wrap="square" lIns="45720" rIns="45720" anchor="t">
            <a:spAutoFit/>
          </a:bodyPr>
          <a:lstStyle/>
          <a:p>
            <a:pPr algn="l"/>
            <a:r>
              <a:rPr sz="2500" b="1">
                <a:solidFill>
                  <a:srgbClr val="7C93B8"/>
                </a:solidFill>
                <a:latin typeface="Aptos"/>
              </a:rPr>
              <a:t>1.9%</a:t>
            </a:r>
          </a:p>
        </p:txBody>
      </p:sp>
      <p:sp>
        <p:nvSpPr>
          <p:cNvPr id="25" name="TextBox 24"/>
          <p:cNvSpPr txBox="1"/>
          <p:nvPr/>
        </p:nvSpPr>
        <p:spPr>
          <a:xfrm>
            <a:off x="9226296" y="2587752"/>
            <a:ext cx="2121408" cy="292608"/>
          </a:xfrm>
          <a:prstGeom prst="rect">
            <a:avLst/>
          </a:prstGeom>
          <a:noFill/>
        </p:spPr>
        <p:txBody>
          <a:bodyPr wrap="square" lIns="45720" rIns="45720" anchor="t">
            <a:spAutoFit/>
          </a:bodyPr>
          <a:lstStyle/>
          <a:p>
            <a:pPr algn="l"/>
            <a:r>
              <a:rPr sz="1200" b="1">
                <a:solidFill>
                  <a:srgbClr val="22222A"/>
                </a:solidFill>
                <a:latin typeface="Aptos"/>
              </a:rPr>
              <a:t>반품률</a:t>
            </a:r>
          </a:p>
        </p:txBody>
      </p:sp>
      <p:sp>
        <p:nvSpPr>
          <p:cNvPr id="26" name="TextBox 25"/>
          <p:cNvSpPr txBox="1"/>
          <p:nvPr/>
        </p:nvSpPr>
        <p:spPr>
          <a:xfrm>
            <a:off x="9226296" y="2907791"/>
            <a:ext cx="2121408" cy="228600"/>
          </a:xfrm>
          <a:prstGeom prst="rect">
            <a:avLst/>
          </a:prstGeom>
          <a:noFill/>
        </p:spPr>
        <p:txBody>
          <a:bodyPr wrap="square" lIns="45720" rIns="45720" anchor="t">
            <a:spAutoFit/>
          </a:bodyPr>
          <a:lstStyle/>
          <a:p>
            <a:pPr algn="l"/>
            <a:r>
              <a:rPr sz="1000" b="0">
                <a:solidFill>
                  <a:srgbClr val="64748B"/>
                </a:solidFill>
                <a:latin typeface="Aptos"/>
              </a:rPr>
              <a:t>제품 경험 안정성</a:t>
            </a:r>
          </a:p>
        </p:txBody>
      </p:sp>
      <p:sp>
        <p:nvSpPr>
          <p:cNvPr id="27" name="Rounded Rectangle 26"/>
          <p:cNvSpPr/>
          <p:nvPr/>
        </p:nvSpPr>
        <p:spPr>
          <a:xfrm>
            <a:off x="658368" y="3858768"/>
            <a:ext cx="10872216" cy="1371600"/>
          </a:xfrm>
          <a:prstGeom prst="roundRect">
            <a:avLst>
              <a:gd name="adj" fmla="val 12000"/>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4151376"/>
            <a:ext cx="914400" cy="228600"/>
          </a:xfrm>
          <a:prstGeom prst="rect">
            <a:avLst/>
          </a:prstGeom>
          <a:noFill/>
        </p:spPr>
        <p:txBody>
          <a:bodyPr wrap="square" lIns="45720" rIns="45720" anchor="t">
            <a:spAutoFit/>
          </a:bodyPr>
          <a:lstStyle/>
          <a:p>
            <a:pPr algn="l"/>
            <a:r>
              <a:rPr sz="1200" b="1">
                <a:solidFill>
                  <a:srgbClr val="F5A623"/>
                </a:solidFill>
                <a:latin typeface="Aptos"/>
              </a:rPr>
              <a:t>결론</a:t>
            </a:r>
          </a:p>
        </p:txBody>
      </p:sp>
      <p:sp>
        <p:nvSpPr>
          <p:cNvPr id="29" name="TextBox 28"/>
          <p:cNvSpPr txBox="1"/>
          <p:nvPr/>
        </p:nvSpPr>
        <p:spPr>
          <a:xfrm>
            <a:off x="914400" y="4507992"/>
            <a:ext cx="9784080" cy="347472"/>
          </a:xfrm>
          <a:prstGeom prst="rect">
            <a:avLst/>
          </a:prstGeom>
          <a:noFill/>
        </p:spPr>
        <p:txBody>
          <a:bodyPr wrap="square" lIns="45720" rIns="45720" anchor="t">
            <a:spAutoFit/>
          </a:bodyPr>
          <a:lstStyle/>
          <a:p>
            <a:pPr algn="l"/>
            <a:r>
              <a:rPr sz="2100" b="1">
                <a:solidFill>
                  <a:srgbClr val="FFFFFF"/>
                </a:solidFill>
                <a:latin typeface="Aptos"/>
              </a:rPr>
              <a:t>2차 캠페인은 고효율 채널 중심으로 재배분하고, 재고 회전 및 매출 기준을 즉시 정렬합니다.</a:t>
            </a:r>
          </a:p>
        </p:txBody>
      </p:sp>
      <p:sp>
        <p:nvSpPr>
          <p:cNvPr id="30" name="TextBox 29"/>
          <p:cNvSpPr txBox="1"/>
          <p:nvPr/>
        </p:nvSpPr>
        <p:spPr>
          <a:xfrm>
            <a:off x="521207" y="6473952"/>
            <a:ext cx="3657600" cy="164592"/>
          </a:xfrm>
          <a:prstGeom prst="rect">
            <a:avLst/>
          </a:prstGeom>
          <a:noFill/>
        </p:spPr>
        <p:txBody>
          <a:bodyPr wrap="square" lIns="45720" rIns="45720" anchor="t">
            <a:spAutoFit/>
          </a:bodyPr>
          <a:lstStyle/>
          <a:p>
            <a:pPr algn="l"/>
            <a:r>
              <a:rPr sz="800" b="1">
                <a:solidFill>
                  <a:srgbClr val="7C93B8"/>
                </a:solidFill>
                <a:latin typeface="Aptos"/>
              </a:rPr>
              <a:t>AURORA KIT  |  출시 6주 성과</a:t>
            </a:r>
          </a:p>
        </p:txBody>
      </p:sp>
      <p:sp>
        <p:nvSpPr>
          <p:cNvPr id="31" name="TextBox 30"/>
          <p:cNvSpPr txBox="1"/>
          <p:nvPr/>
        </p:nvSpPr>
        <p:spPr>
          <a:xfrm>
            <a:off x="10744200" y="6473952"/>
            <a:ext cx="822960" cy="164592"/>
          </a:xfrm>
          <a:prstGeom prst="rect">
            <a:avLst/>
          </a:prstGeom>
          <a:noFill/>
        </p:spPr>
        <p:txBody>
          <a:bodyPr wrap="square" lIns="45720" rIns="45720" anchor="t">
            <a:spAutoFit/>
          </a:bodyPr>
          <a:lstStyle/>
          <a:p>
            <a:pPr algn="r"/>
            <a:r>
              <a:rPr sz="800" b="1">
                <a:solidFill>
                  <a:srgbClr val="7C93B8"/>
                </a:solidFill>
                <a:latin typeface="Aptos"/>
              </a:rPr>
              <a:t>3 / 09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solidFill>
              <a:srgbClr val="FAF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457200" cy="274320"/>
          </a:xfrm>
          <a:prstGeom prst="rect">
            <a:avLst/>
          </a:prstGeom>
          <a:noFill/>
        </p:spPr>
        <p:txBody>
          <a:bodyPr wrap="square" lIns="45720" rIns="45720" anchor="t">
            <a:spAutoFit/>
          </a:bodyPr>
          <a:lstStyle/>
          <a:p>
            <a:pPr algn="l"/>
            <a:r>
              <a:rPr sz="1000" b="1">
                <a:solidFill>
                  <a:srgbClr val="F5A623"/>
                </a:solidFill>
                <a:latin typeface="Aptos"/>
              </a:rPr>
              <a:t>04</a:t>
            </a:r>
          </a:p>
        </p:txBody>
      </p:sp>
      <p:sp>
        <p:nvSpPr>
          <p:cNvPr id="4" name="TextBox 3"/>
          <p:cNvSpPr txBox="1"/>
          <p:nvPr/>
        </p:nvSpPr>
        <p:spPr>
          <a:xfrm>
            <a:off x="502920" y="621792"/>
            <a:ext cx="11064240" cy="502920"/>
          </a:xfrm>
          <a:prstGeom prst="rect">
            <a:avLst/>
          </a:prstGeom>
          <a:noFill/>
        </p:spPr>
        <p:txBody>
          <a:bodyPr wrap="square" lIns="45720" rIns="45720" anchor="t">
            <a:spAutoFit/>
          </a:bodyPr>
          <a:lstStyle/>
          <a:p>
            <a:pPr algn="l"/>
            <a:r>
              <a:rPr sz="2700" b="1">
                <a:solidFill>
                  <a:srgbClr val="1B2A4A"/>
                </a:solidFill>
                <a:latin typeface="Aptos"/>
              </a:rPr>
              <a:t>목표를 18% 초과 달성하며 초기 수요를 확인했습니다</a:t>
            </a:r>
          </a:p>
        </p:txBody>
      </p:sp>
      <p:sp>
        <p:nvSpPr>
          <p:cNvPr id="5" name="TextBox 4"/>
          <p:cNvSpPr txBox="1"/>
          <p:nvPr/>
        </p:nvSpPr>
        <p:spPr>
          <a:xfrm>
            <a:off x="521207" y="1170432"/>
            <a:ext cx="10789920" cy="256032"/>
          </a:xfrm>
          <a:prstGeom prst="rect">
            <a:avLst/>
          </a:prstGeom>
          <a:noFill/>
        </p:spPr>
        <p:txBody>
          <a:bodyPr wrap="square" lIns="45720" rIns="45720" anchor="t">
            <a:spAutoFit/>
          </a:bodyPr>
          <a:lstStyle/>
          <a:p>
            <a:pPr algn="l"/>
            <a:r>
              <a:rPr sz="1100" b="0">
                <a:solidFill>
                  <a:srgbClr val="64748B"/>
                </a:solidFill>
                <a:latin typeface="Aptos"/>
              </a:rPr>
              <a:t>핵심 지표와 목표 대비 성과</a:t>
            </a:r>
          </a:p>
        </p:txBody>
      </p:sp>
      <p:sp>
        <p:nvSpPr>
          <p:cNvPr id="6" name="Rectangle 5"/>
          <p:cNvSpPr/>
          <p:nvPr/>
        </p:nvSpPr>
        <p:spPr>
          <a:xfrm>
            <a:off x="502920" y="1508760"/>
            <a:ext cx="11109960" cy="22860"/>
          </a:xfrm>
          <a:prstGeom prst="rect">
            <a:avLst/>
          </a:prstGeom>
          <a:solidFill>
            <a:srgbClr val="E9EEF5"/>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2286000" cy="228600"/>
          </a:xfrm>
          <a:prstGeom prst="rect">
            <a:avLst/>
          </a:prstGeom>
          <a:noFill/>
        </p:spPr>
        <p:txBody>
          <a:bodyPr wrap="square" lIns="45720" rIns="45720" anchor="t">
            <a:spAutoFit/>
          </a:bodyPr>
          <a:lstStyle/>
          <a:p>
            <a:pPr algn="l"/>
            <a:r>
              <a:rPr sz="1300" b="1">
                <a:solidFill>
                  <a:srgbClr val="1B2A4A"/>
                </a:solidFill>
                <a:latin typeface="Aptos"/>
              </a:rPr>
              <a:t>판매 목표 대비 지수</a:t>
            </a:r>
          </a:p>
        </p:txBody>
      </p:sp>
      <p:sp>
        <p:nvSpPr>
          <p:cNvPr id="8" name="Rounded Rectangle 7"/>
          <p:cNvSpPr/>
          <p:nvPr/>
        </p:nvSpPr>
        <p:spPr>
          <a:xfrm>
            <a:off x="914400" y="2788920"/>
            <a:ext cx="7818120" cy="475488"/>
          </a:xfrm>
          <a:prstGeom prst="roundRect">
            <a:avLst>
              <a:gd name="adj" fmla="val 12000"/>
            </a:avLst>
          </a:prstGeom>
          <a:solidFill>
            <a:srgbClr val="E9EEF5"/>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2788920"/>
            <a:ext cx="6629400" cy="475488"/>
          </a:xfrm>
          <a:prstGeom prst="roundRect">
            <a:avLst>
              <a:gd name="adj" fmla="val 12000"/>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543800" y="2578608"/>
            <a:ext cx="36576" cy="896112"/>
          </a:xfrm>
          <a:prstGeom prst="rect">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3502152"/>
            <a:ext cx="640080" cy="182880"/>
          </a:xfrm>
          <a:prstGeom prst="rect">
            <a:avLst/>
          </a:prstGeom>
          <a:noFill/>
        </p:spPr>
        <p:txBody>
          <a:bodyPr wrap="square" lIns="45720" rIns="45720" anchor="t">
            <a:spAutoFit/>
          </a:bodyPr>
          <a:lstStyle/>
          <a:p>
            <a:pPr algn="ctr"/>
            <a:r>
              <a:rPr sz="1000" b="0">
                <a:solidFill>
                  <a:srgbClr val="64748B"/>
                </a:solidFill>
                <a:latin typeface="Aptos"/>
              </a:rPr>
              <a:t>목표 100</a:t>
            </a:r>
          </a:p>
        </p:txBody>
      </p:sp>
      <p:sp>
        <p:nvSpPr>
          <p:cNvPr id="12" name="TextBox 11"/>
          <p:cNvSpPr txBox="1"/>
          <p:nvPr/>
        </p:nvSpPr>
        <p:spPr>
          <a:xfrm>
            <a:off x="7973568" y="2907792"/>
            <a:ext cx="914400" cy="228600"/>
          </a:xfrm>
          <a:prstGeom prst="rect">
            <a:avLst/>
          </a:prstGeom>
          <a:noFill/>
        </p:spPr>
        <p:txBody>
          <a:bodyPr wrap="square" lIns="45720" rIns="45720" anchor="t">
            <a:spAutoFit/>
          </a:bodyPr>
          <a:lstStyle/>
          <a:p>
            <a:pPr algn="l"/>
            <a:r>
              <a:rPr sz="1400" b="1">
                <a:solidFill>
                  <a:srgbClr val="F5A623"/>
                </a:solidFill>
                <a:latin typeface="Aptos"/>
              </a:rPr>
              <a:t>실적 118</a:t>
            </a:r>
          </a:p>
        </p:txBody>
      </p:sp>
      <p:sp>
        <p:nvSpPr>
          <p:cNvPr id="13" name="TextBox 12"/>
          <p:cNvSpPr txBox="1"/>
          <p:nvPr/>
        </p:nvSpPr>
        <p:spPr>
          <a:xfrm>
            <a:off x="731520" y="4069080"/>
            <a:ext cx="2743200" cy="256032"/>
          </a:xfrm>
          <a:prstGeom prst="rect">
            <a:avLst/>
          </a:prstGeom>
          <a:noFill/>
        </p:spPr>
        <p:txBody>
          <a:bodyPr wrap="square" lIns="45720" rIns="45720" anchor="t">
            <a:spAutoFit/>
          </a:bodyPr>
          <a:lstStyle/>
          <a:p>
            <a:pPr algn="l"/>
            <a:r>
              <a:rPr sz="1300" b="1">
                <a:solidFill>
                  <a:srgbClr val="1B2A4A"/>
                </a:solidFill>
                <a:latin typeface="Aptos"/>
              </a:rPr>
              <a:t>출시 6주 누적 판매량</a:t>
            </a:r>
          </a:p>
        </p:txBody>
      </p:sp>
      <p:sp>
        <p:nvSpPr>
          <p:cNvPr id="14" name="TextBox 13"/>
          <p:cNvSpPr txBox="1"/>
          <p:nvPr/>
        </p:nvSpPr>
        <p:spPr>
          <a:xfrm>
            <a:off x="731520" y="4434840"/>
            <a:ext cx="2743200" cy="502920"/>
          </a:xfrm>
          <a:prstGeom prst="rect">
            <a:avLst/>
          </a:prstGeom>
          <a:noFill/>
        </p:spPr>
        <p:txBody>
          <a:bodyPr wrap="square" lIns="45720" rIns="45720" anchor="t">
            <a:spAutoFit/>
          </a:bodyPr>
          <a:lstStyle/>
          <a:p>
            <a:pPr algn="l"/>
            <a:r>
              <a:rPr sz="3400" b="1">
                <a:solidFill>
                  <a:srgbClr val="1B2A4A"/>
                </a:solidFill>
                <a:latin typeface="Aptos"/>
              </a:rPr>
              <a:t>12,400대</a:t>
            </a:r>
          </a:p>
        </p:txBody>
      </p:sp>
      <p:sp>
        <p:nvSpPr>
          <p:cNvPr id="15" name="Rounded Rectangle 14"/>
          <p:cNvSpPr/>
          <p:nvPr/>
        </p:nvSpPr>
        <p:spPr>
          <a:xfrm>
            <a:off x="6309360" y="3977639"/>
            <a:ext cx="5074920" cy="1133856"/>
          </a:xfrm>
          <a:prstGeom prst="roundRect">
            <a:avLst>
              <a:gd name="adj" fmla="val 12000"/>
            </a:avLst>
          </a:prstGeom>
          <a:solidFill>
            <a:srgbClr val="FFF1D7"/>
          </a:solidFill>
          <a:ln>
            <a:solidFill>
              <a:srgbClr val="FFF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4224528"/>
            <a:ext cx="640080" cy="228600"/>
          </a:xfrm>
          <a:prstGeom prst="rect">
            <a:avLst/>
          </a:prstGeom>
          <a:noFill/>
        </p:spPr>
        <p:txBody>
          <a:bodyPr wrap="square" lIns="45720" rIns="45720" anchor="t">
            <a:spAutoFit/>
          </a:bodyPr>
          <a:lstStyle/>
          <a:p>
            <a:pPr algn="l"/>
            <a:r>
              <a:rPr sz="1200" b="1">
                <a:solidFill>
                  <a:srgbClr val="F5A623"/>
                </a:solidFill>
                <a:latin typeface="Aptos"/>
              </a:rPr>
              <a:t>해석</a:t>
            </a:r>
          </a:p>
        </p:txBody>
      </p:sp>
      <p:sp>
        <p:nvSpPr>
          <p:cNvPr id="17" name="TextBox 16"/>
          <p:cNvSpPr txBox="1"/>
          <p:nvPr/>
        </p:nvSpPr>
        <p:spPr>
          <a:xfrm>
            <a:off x="6583680" y="4535424"/>
            <a:ext cx="4389120" cy="246888"/>
          </a:xfrm>
          <a:prstGeom prst="rect">
            <a:avLst/>
          </a:prstGeom>
          <a:noFill/>
        </p:spPr>
        <p:txBody>
          <a:bodyPr wrap="square" lIns="45720" rIns="45720" anchor="t">
            <a:spAutoFit/>
          </a:bodyPr>
          <a:lstStyle/>
          <a:p>
            <a:pPr algn="l"/>
            <a:r>
              <a:rPr sz="1700" b="1">
                <a:solidFill>
                  <a:srgbClr val="22222A"/>
                </a:solidFill>
                <a:latin typeface="Aptos"/>
              </a:rPr>
              <a:t>초기 수요는 계획보다 강함</a:t>
            </a:r>
          </a:p>
        </p:txBody>
      </p:sp>
      <p:sp>
        <p:nvSpPr>
          <p:cNvPr id="18" name="TextBox 17"/>
          <p:cNvSpPr txBox="1"/>
          <p:nvPr/>
        </p:nvSpPr>
        <p:spPr>
          <a:xfrm>
            <a:off x="731520" y="5852160"/>
            <a:ext cx="5029200" cy="182880"/>
          </a:xfrm>
          <a:prstGeom prst="rect">
            <a:avLst/>
          </a:prstGeom>
          <a:noFill/>
        </p:spPr>
        <p:txBody>
          <a:bodyPr wrap="square" lIns="45720" rIns="45720" anchor="t">
            <a:spAutoFit/>
          </a:bodyPr>
          <a:lstStyle/>
          <a:p>
            <a:pPr algn="l"/>
            <a:r>
              <a:rPr sz="1000" b="0">
                <a:solidFill>
                  <a:srgbClr val="64748B"/>
                </a:solidFill>
                <a:latin typeface="Aptos"/>
              </a:rPr>
              <a:t>※ 브리프에 제공된 판매 초과율을 기준으로 표시</a:t>
            </a:r>
          </a:p>
        </p:txBody>
      </p:sp>
      <p:sp>
        <p:nvSpPr>
          <p:cNvPr id="19" name="TextBox 18"/>
          <p:cNvSpPr txBox="1"/>
          <p:nvPr/>
        </p:nvSpPr>
        <p:spPr>
          <a:xfrm>
            <a:off x="521207" y="6473952"/>
            <a:ext cx="3657600" cy="164592"/>
          </a:xfrm>
          <a:prstGeom prst="rect">
            <a:avLst/>
          </a:prstGeom>
          <a:noFill/>
        </p:spPr>
        <p:txBody>
          <a:bodyPr wrap="square" lIns="45720" rIns="45720" anchor="t">
            <a:spAutoFit/>
          </a:bodyPr>
          <a:lstStyle/>
          <a:p>
            <a:pPr algn="l"/>
            <a:r>
              <a:rPr sz="800" b="1">
                <a:solidFill>
                  <a:srgbClr val="7C93B8"/>
                </a:solidFill>
                <a:latin typeface="Aptos"/>
              </a:rPr>
              <a:t>AURORA KIT  |  출시 6주 성과</a:t>
            </a:r>
          </a:p>
        </p:txBody>
      </p:sp>
      <p:sp>
        <p:nvSpPr>
          <p:cNvPr id="20" name="TextBox 19"/>
          <p:cNvSpPr txBox="1"/>
          <p:nvPr/>
        </p:nvSpPr>
        <p:spPr>
          <a:xfrm>
            <a:off x="10744200" y="6473952"/>
            <a:ext cx="822960" cy="164592"/>
          </a:xfrm>
          <a:prstGeom prst="rect">
            <a:avLst/>
          </a:prstGeom>
          <a:noFill/>
        </p:spPr>
        <p:txBody>
          <a:bodyPr wrap="square" lIns="45720" rIns="45720" anchor="t">
            <a:spAutoFit/>
          </a:bodyPr>
          <a:lstStyle/>
          <a:p>
            <a:pPr algn="r"/>
            <a:r>
              <a:rPr sz="800" b="1">
                <a:solidFill>
                  <a:srgbClr val="7C93B8"/>
                </a:solidFill>
                <a:latin typeface="Aptos"/>
              </a:rPr>
              <a:t>4 / 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solidFill>
              <a:srgbClr val="FAF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457200" cy="274320"/>
          </a:xfrm>
          <a:prstGeom prst="rect">
            <a:avLst/>
          </a:prstGeom>
          <a:noFill/>
        </p:spPr>
        <p:txBody>
          <a:bodyPr wrap="square" lIns="45720" rIns="45720" anchor="t">
            <a:spAutoFit/>
          </a:bodyPr>
          <a:lstStyle/>
          <a:p>
            <a:pPr algn="l"/>
            <a:r>
              <a:rPr sz="1000" b="1">
                <a:solidFill>
                  <a:srgbClr val="F5A623"/>
                </a:solidFill>
                <a:latin typeface="Aptos"/>
              </a:rPr>
              <a:t>05</a:t>
            </a:r>
          </a:p>
        </p:txBody>
      </p:sp>
      <p:sp>
        <p:nvSpPr>
          <p:cNvPr id="4" name="TextBox 3"/>
          <p:cNvSpPr txBox="1"/>
          <p:nvPr/>
        </p:nvSpPr>
        <p:spPr>
          <a:xfrm>
            <a:off x="502920" y="621792"/>
            <a:ext cx="11064240" cy="502920"/>
          </a:xfrm>
          <a:prstGeom prst="rect">
            <a:avLst/>
          </a:prstGeom>
          <a:noFill/>
        </p:spPr>
        <p:txBody>
          <a:bodyPr wrap="square" lIns="45720" rIns="45720" anchor="t">
            <a:spAutoFit/>
          </a:bodyPr>
          <a:lstStyle/>
          <a:p>
            <a:pPr algn="l"/>
            <a:r>
              <a:rPr sz="2700" b="1">
                <a:solidFill>
                  <a:srgbClr val="1B2A4A"/>
                </a:solidFill>
                <a:latin typeface="Aptos"/>
              </a:rPr>
              <a:t>채널별로 수익성과 재고 회전 편차가 커졌습니다</a:t>
            </a:r>
          </a:p>
        </p:txBody>
      </p:sp>
      <p:sp>
        <p:nvSpPr>
          <p:cNvPr id="5" name="TextBox 4"/>
          <p:cNvSpPr txBox="1"/>
          <p:nvPr/>
        </p:nvSpPr>
        <p:spPr>
          <a:xfrm>
            <a:off x="521207" y="1170432"/>
            <a:ext cx="10789920" cy="256032"/>
          </a:xfrm>
          <a:prstGeom prst="rect">
            <a:avLst/>
          </a:prstGeom>
          <a:noFill/>
        </p:spPr>
        <p:txBody>
          <a:bodyPr wrap="square" lIns="45720" rIns="45720" anchor="t">
            <a:spAutoFit/>
          </a:bodyPr>
          <a:lstStyle/>
          <a:p>
            <a:pPr algn="l"/>
            <a:r>
              <a:rPr sz="1100" b="0">
                <a:solidFill>
                  <a:srgbClr val="64748B"/>
                </a:solidFill>
                <a:latin typeface="Aptos"/>
              </a:rPr>
              <a:t>채널별 시사점 | 제공 데이터에 채널별 수치가 없어, 방향성 중심으로 제시</a:t>
            </a:r>
          </a:p>
        </p:txBody>
      </p:sp>
      <p:sp>
        <p:nvSpPr>
          <p:cNvPr id="6" name="Rectangle 5"/>
          <p:cNvSpPr/>
          <p:nvPr/>
        </p:nvSpPr>
        <p:spPr>
          <a:xfrm>
            <a:off x="502920" y="1508760"/>
            <a:ext cx="11109960" cy="22860"/>
          </a:xfrm>
          <a:prstGeom prst="rect">
            <a:avLst/>
          </a:prstGeom>
          <a:solidFill>
            <a:srgbClr val="E9EEF5"/>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2148840"/>
            <a:ext cx="3063240" cy="2121408"/>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2148840"/>
            <a:ext cx="3063240" cy="109728"/>
          </a:xfrm>
          <a:prstGeom prst="roundRect">
            <a:avLst>
              <a:gd name="adj" fmla="val 12000"/>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542032"/>
            <a:ext cx="2560320" cy="320040"/>
          </a:xfrm>
          <a:prstGeom prst="rect">
            <a:avLst/>
          </a:prstGeom>
          <a:noFill/>
        </p:spPr>
        <p:txBody>
          <a:bodyPr wrap="square" lIns="45720" rIns="45720" anchor="t">
            <a:spAutoFit/>
          </a:bodyPr>
          <a:lstStyle/>
          <a:p>
            <a:pPr algn="l"/>
            <a:r>
              <a:rPr sz="1900" b="1">
                <a:solidFill>
                  <a:srgbClr val="1B2A4A"/>
                </a:solidFill>
                <a:latin typeface="Aptos"/>
              </a:rPr>
              <a:t>고효율 채널</a:t>
            </a:r>
          </a:p>
        </p:txBody>
      </p:sp>
      <p:sp>
        <p:nvSpPr>
          <p:cNvPr id="10" name="TextBox 9"/>
          <p:cNvSpPr txBox="1"/>
          <p:nvPr/>
        </p:nvSpPr>
        <p:spPr>
          <a:xfrm>
            <a:off x="960120" y="3154680"/>
            <a:ext cx="2514600" cy="502920"/>
          </a:xfrm>
          <a:prstGeom prst="rect">
            <a:avLst/>
          </a:prstGeom>
          <a:noFill/>
        </p:spPr>
        <p:txBody>
          <a:bodyPr wrap="square" lIns="45720" rIns="45720" anchor="t">
            <a:spAutoFit/>
          </a:bodyPr>
          <a:lstStyle/>
          <a:p>
            <a:pPr algn="l"/>
            <a:r>
              <a:rPr sz="1400" b="0">
                <a:solidFill>
                  <a:srgbClr val="22222A"/>
                </a:solidFill>
                <a:latin typeface="Aptos"/>
              </a:rPr>
              <a:t>2차 캠페인 예산을 우선 배분</a:t>
            </a:r>
          </a:p>
        </p:txBody>
      </p:sp>
      <p:sp>
        <p:nvSpPr>
          <p:cNvPr id="11" name="Rounded Rectangle 10"/>
          <p:cNvSpPr/>
          <p:nvPr/>
        </p:nvSpPr>
        <p:spPr>
          <a:xfrm>
            <a:off x="4251960" y="2148840"/>
            <a:ext cx="3063240" cy="2121408"/>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51960" y="2148840"/>
            <a:ext cx="3063240" cy="109728"/>
          </a:xfrm>
          <a:prstGeom prst="roundRect">
            <a:avLst>
              <a:gd name="adj" fmla="val 12000"/>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542032"/>
            <a:ext cx="2560320" cy="320040"/>
          </a:xfrm>
          <a:prstGeom prst="rect">
            <a:avLst/>
          </a:prstGeom>
          <a:noFill/>
        </p:spPr>
        <p:txBody>
          <a:bodyPr wrap="square" lIns="45720" rIns="45720" anchor="t">
            <a:spAutoFit/>
          </a:bodyPr>
          <a:lstStyle/>
          <a:p>
            <a:pPr algn="l"/>
            <a:r>
              <a:rPr sz="1900" b="1">
                <a:solidFill>
                  <a:srgbClr val="1B2A4A"/>
                </a:solidFill>
                <a:latin typeface="Aptos"/>
              </a:rPr>
              <a:t>개선 필요 채널</a:t>
            </a:r>
          </a:p>
        </p:txBody>
      </p:sp>
      <p:sp>
        <p:nvSpPr>
          <p:cNvPr id="14" name="TextBox 13"/>
          <p:cNvSpPr txBox="1"/>
          <p:nvPr/>
        </p:nvSpPr>
        <p:spPr>
          <a:xfrm>
            <a:off x="4526280" y="3154680"/>
            <a:ext cx="2514600" cy="502920"/>
          </a:xfrm>
          <a:prstGeom prst="rect">
            <a:avLst/>
          </a:prstGeom>
          <a:noFill/>
        </p:spPr>
        <p:txBody>
          <a:bodyPr wrap="square" lIns="45720" rIns="45720" anchor="t">
            <a:spAutoFit/>
          </a:bodyPr>
          <a:lstStyle/>
          <a:p>
            <a:pPr algn="l"/>
            <a:r>
              <a:rPr sz="1400" b="0">
                <a:solidFill>
                  <a:srgbClr val="22222A"/>
                </a:solidFill>
                <a:latin typeface="Aptos"/>
              </a:rPr>
              <a:t>수익성·재고 회전 원인 점검</a:t>
            </a:r>
          </a:p>
        </p:txBody>
      </p:sp>
      <p:sp>
        <p:nvSpPr>
          <p:cNvPr id="15" name="Rounded Rectangle 14"/>
          <p:cNvSpPr/>
          <p:nvPr/>
        </p:nvSpPr>
        <p:spPr>
          <a:xfrm>
            <a:off x="7818120" y="2148840"/>
            <a:ext cx="3063240" cy="2121408"/>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818120" y="2148840"/>
            <a:ext cx="3063240" cy="109728"/>
          </a:xfrm>
          <a:prstGeom prst="roundRect">
            <a:avLst>
              <a:gd name="adj" fmla="val 12000"/>
            </a:avLst>
          </a:prstGeom>
          <a:solidFill>
            <a:srgbClr val="7C93B8"/>
          </a:solidFill>
          <a:ln>
            <a:solidFill>
              <a:srgbClr val="7C9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2542032"/>
            <a:ext cx="2560320" cy="320040"/>
          </a:xfrm>
          <a:prstGeom prst="rect">
            <a:avLst/>
          </a:prstGeom>
          <a:noFill/>
        </p:spPr>
        <p:txBody>
          <a:bodyPr wrap="square" lIns="45720" rIns="45720" anchor="t">
            <a:spAutoFit/>
          </a:bodyPr>
          <a:lstStyle/>
          <a:p>
            <a:pPr algn="l"/>
            <a:r>
              <a:rPr sz="1900" b="1">
                <a:solidFill>
                  <a:srgbClr val="1B2A4A"/>
                </a:solidFill>
                <a:latin typeface="Aptos"/>
              </a:rPr>
              <a:t>공통 운영</a:t>
            </a:r>
          </a:p>
        </p:txBody>
      </p:sp>
      <p:sp>
        <p:nvSpPr>
          <p:cNvPr id="18" name="TextBox 17"/>
          <p:cNvSpPr txBox="1"/>
          <p:nvPr/>
        </p:nvSpPr>
        <p:spPr>
          <a:xfrm>
            <a:off x="8092440" y="3154680"/>
            <a:ext cx="2514600" cy="502920"/>
          </a:xfrm>
          <a:prstGeom prst="rect">
            <a:avLst/>
          </a:prstGeom>
          <a:noFill/>
        </p:spPr>
        <p:txBody>
          <a:bodyPr wrap="square" lIns="45720" rIns="45720" anchor="t">
            <a:spAutoFit/>
          </a:bodyPr>
          <a:lstStyle/>
          <a:p>
            <a:pPr algn="l"/>
            <a:r>
              <a:rPr sz="1400" b="0">
                <a:solidFill>
                  <a:srgbClr val="22222A"/>
                </a:solidFill>
                <a:latin typeface="Aptos"/>
              </a:rPr>
              <a:t>주간 관리 지표와 판단 기준 통일</a:t>
            </a:r>
          </a:p>
        </p:txBody>
      </p:sp>
      <p:sp>
        <p:nvSpPr>
          <p:cNvPr id="19" name="TextBox 18"/>
          <p:cNvSpPr txBox="1"/>
          <p:nvPr/>
        </p:nvSpPr>
        <p:spPr>
          <a:xfrm>
            <a:off x="777240" y="5029200"/>
            <a:ext cx="10515600" cy="365760"/>
          </a:xfrm>
          <a:prstGeom prst="rect">
            <a:avLst/>
          </a:prstGeom>
          <a:noFill/>
        </p:spPr>
        <p:txBody>
          <a:bodyPr wrap="square" lIns="45720" rIns="45720" anchor="t">
            <a:spAutoFit/>
          </a:bodyPr>
          <a:lstStyle/>
          <a:p>
            <a:pPr algn="ctr"/>
            <a:r>
              <a:rPr sz="2000" b="1">
                <a:solidFill>
                  <a:srgbClr val="1B2A4A"/>
                </a:solidFill>
                <a:latin typeface="Aptos"/>
              </a:rPr>
              <a:t>권고: “전체 확대”가 아닌 “효율 증명 후 확장” 원칙으로 2차 캠페인을 설계</a:t>
            </a:r>
          </a:p>
        </p:txBody>
      </p:sp>
      <p:sp>
        <p:nvSpPr>
          <p:cNvPr id="20" name="TextBox 19"/>
          <p:cNvSpPr txBox="1"/>
          <p:nvPr/>
        </p:nvSpPr>
        <p:spPr>
          <a:xfrm>
            <a:off x="521207" y="6473952"/>
            <a:ext cx="3657600" cy="164592"/>
          </a:xfrm>
          <a:prstGeom prst="rect">
            <a:avLst/>
          </a:prstGeom>
          <a:noFill/>
        </p:spPr>
        <p:txBody>
          <a:bodyPr wrap="square" lIns="45720" rIns="45720" anchor="t">
            <a:spAutoFit/>
          </a:bodyPr>
          <a:lstStyle/>
          <a:p>
            <a:pPr algn="l"/>
            <a:r>
              <a:rPr sz="800" b="1">
                <a:solidFill>
                  <a:srgbClr val="7C93B8"/>
                </a:solidFill>
                <a:latin typeface="Aptos"/>
              </a:rPr>
              <a:t>AURORA KIT  |  출시 6주 성과</a:t>
            </a:r>
          </a:p>
        </p:txBody>
      </p:sp>
      <p:sp>
        <p:nvSpPr>
          <p:cNvPr id="21" name="TextBox 20"/>
          <p:cNvSpPr txBox="1"/>
          <p:nvPr/>
        </p:nvSpPr>
        <p:spPr>
          <a:xfrm>
            <a:off x="10744200" y="6473952"/>
            <a:ext cx="822960" cy="164592"/>
          </a:xfrm>
          <a:prstGeom prst="rect">
            <a:avLst/>
          </a:prstGeom>
          <a:noFill/>
        </p:spPr>
        <p:txBody>
          <a:bodyPr wrap="square" lIns="45720" rIns="45720" anchor="t">
            <a:spAutoFit/>
          </a:bodyPr>
          <a:lstStyle/>
          <a:p>
            <a:pPr algn="r"/>
            <a:r>
              <a:rPr sz="800" b="1">
                <a:solidFill>
                  <a:srgbClr val="7C93B8"/>
                </a:solidFill>
                <a:latin typeface="Aptos"/>
              </a:rPr>
              <a:t>5 / 09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solidFill>
              <a:srgbClr val="FAF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457200" cy="274320"/>
          </a:xfrm>
          <a:prstGeom prst="rect">
            <a:avLst/>
          </a:prstGeom>
          <a:noFill/>
        </p:spPr>
        <p:txBody>
          <a:bodyPr wrap="square" lIns="45720" rIns="45720" anchor="t">
            <a:spAutoFit/>
          </a:bodyPr>
          <a:lstStyle/>
          <a:p>
            <a:pPr algn="l"/>
            <a:r>
              <a:rPr sz="1000" b="1">
                <a:solidFill>
                  <a:srgbClr val="F5A623"/>
                </a:solidFill>
                <a:latin typeface="Aptos"/>
              </a:rPr>
              <a:t>06</a:t>
            </a:r>
          </a:p>
        </p:txBody>
      </p:sp>
      <p:sp>
        <p:nvSpPr>
          <p:cNvPr id="4" name="TextBox 3"/>
          <p:cNvSpPr txBox="1"/>
          <p:nvPr/>
        </p:nvSpPr>
        <p:spPr>
          <a:xfrm>
            <a:off x="502920" y="621792"/>
            <a:ext cx="11064240" cy="502920"/>
          </a:xfrm>
          <a:prstGeom prst="rect">
            <a:avLst/>
          </a:prstGeom>
          <a:noFill/>
        </p:spPr>
        <p:txBody>
          <a:bodyPr wrap="square" lIns="45720" rIns="45720" anchor="t">
            <a:spAutoFit/>
          </a:bodyPr>
          <a:lstStyle/>
          <a:p>
            <a:pPr algn="l"/>
            <a:r>
              <a:rPr sz="2700" b="1">
                <a:solidFill>
                  <a:srgbClr val="1B2A4A"/>
                </a:solidFill>
                <a:latin typeface="Aptos"/>
              </a:rPr>
              <a:t>고객 반응은 구매 전환과 낮은 반품률로 확인됩니다</a:t>
            </a:r>
          </a:p>
        </p:txBody>
      </p:sp>
      <p:sp>
        <p:nvSpPr>
          <p:cNvPr id="5" name="TextBox 4"/>
          <p:cNvSpPr txBox="1"/>
          <p:nvPr/>
        </p:nvSpPr>
        <p:spPr>
          <a:xfrm>
            <a:off x="521207" y="1170432"/>
            <a:ext cx="10789920" cy="256032"/>
          </a:xfrm>
          <a:prstGeom prst="rect">
            <a:avLst/>
          </a:prstGeom>
          <a:noFill/>
        </p:spPr>
        <p:txBody>
          <a:bodyPr wrap="square" lIns="45720" rIns="45720" anchor="t">
            <a:spAutoFit/>
          </a:bodyPr>
          <a:lstStyle/>
          <a:p>
            <a:pPr algn="l"/>
            <a:r>
              <a:rPr sz="1100" b="0">
                <a:solidFill>
                  <a:srgbClr val="64748B"/>
                </a:solidFill>
                <a:latin typeface="Aptos"/>
              </a:rPr>
              <a:t>고객 반응</a:t>
            </a:r>
          </a:p>
        </p:txBody>
      </p:sp>
      <p:sp>
        <p:nvSpPr>
          <p:cNvPr id="6" name="Rectangle 5"/>
          <p:cNvSpPr/>
          <p:nvPr/>
        </p:nvSpPr>
        <p:spPr>
          <a:xfrm>
            <a:off x="502920" y="1508760"/>
            <a:ext cx="11109960" cy="22860"/>
          </a:xfrm>
          <a:prstGeom prst="rect">
            <a:avLst/>
          </a:prstGeom>
          <a:solidFill>
            <a:srgbClr val="E9EEF5"/>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74519"/>
            <a:ext cx="3200400" cy="1572768"/>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874519"/>
            <a:ext cx="73152" cy="1572768"/>
          </a:xfrm>
          <a:prstGeom prst="roundRect">
            <a:avLst>
              <a:gd name="adj" fmla="val 12000"/>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084831"/>
            <a:ext cx="2761488" cy="384048"/>
          </a:xfrm>
          <a:prstGeom prst="rect">
            <a:avLst/>
          </a:prstGeom>
          <a:noFill/>
        </p:spPr>
        <p:txBody>
          <a:bodyPr wrap="square" lIns="45720" rIns="45720" anchor="t">
            <a:spAutoFit/>
          </a:bodyPr>
          <a:lstStyle/>
          <a:p>
            <a:pPr algn="l"/>
            <a:r>
              <a:rPr sz="2500" b="1">
                <a:solidFill>
                  <a:srgbClr val="1B2A4A"/>
                </a:solidFill>
                <a:latin typeface="Aptos"/>
              </a:rPr>
              <a:t>61개</a:t>
            </a:r>
          </a:p>
        </p:txBody>
      </p:sp>
      <p:sp>
        <p:nvSpPr>
          <p:cNvPr id="10" name="TextBox 9"/>
          <p:cNvSpPr txBox="1"/>
          <p:nvPr/>
        </p:nvSpPr>
        <p:spPr>
          <a:xfrm>
            <a:off x="1033271" y="2587752"/>
            <a:ext cx="2761488" cy="292608"/>
          </a:xfrm>
          <a:prstGeom prst="rect">
            <a:avLst/>
          </a:prstGeom>
          <a:noFill/>
        </p:spPr>
        <p:txBody>
          <a:bodyPr wrap="square" lIns="45720" rIns="45720" anchor="t">
            <a:spAutoFit/>
          </a:bodyPr>
          <a:lstStyle/>
          <a:p>
            <a:pPr algn="l"/>
            <a:r>
              <a:rPr sz="1200" b="1">
                <a:solidFill>
                  <a:srgbClr val="22222A"/>
                </a:solidFill>
                <a:latin typeface="Aptos"/>
              </a:rPr>
              <a:t>재구매 의향 조사 응답</a:t>
            </a:r>
          </a:p>
        </p:txBody>
      </p:sp>
      <p:sp>
        <p:nvSpPr>
          <p:cNvPr id="11" name="TextBox 10"/>
          <p:cNvSpPr txBox="1"/>
          <p:nvPr/>
        </p:nvSpPr>
        <p:spPr>
          <a:xfrm>
            <a:off x="1033271" y="2907791"/>
            <a:ext cx="2761488" cy="228600"/>
          </a:xfrm>
          <a:prstGeom prst="rect">
            <a:avLst/>
          </a:prstGeom>
          <a:noFill/>
        </p:spPr>
        <p:txBody>
          <a:bodyPr wrap="square" lIns="45720" rIns="45720" anchor="t">
            <a:spAutoFit/>
          </a:bodyPr>
          <a:lstStyle/>
          <a:p>
            <a:pPr algn="l"/>
            <a:r>
              <a:rPr sz="1000" b="0">
                <a:solidFill>
                  <a:srgbClr val="64748B"/>
                </a:solidFill>
                <a:latin typeface="Aptos"/>
              </a:rPr>
              <a:t>기업 고객 응답</a:t>
            </a:r>
          </a:p>
        </p:txBody>
      </p:sp>
      <p:sp>
        <p:nvSpPr>
          <p:cNvPr id="12" name="Rounded Rectangle 11"/>
          <p:cNvSpPr/>
          <p:nvPr/>
        </p:nvSpPr>
        <p:spPr>
          <a:xfrm>
            <a:off x="4498848" y="1874519"/>
            <a:ext cx="3200400" cy="1572768"/>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98848" y="1874519"/>
            <a:ext cx="73152" cy="1572768"/>
          </a:xfrm>
          <a:prstGeom prst="roundRect">
            <a:avLst>
              <a:gd name="adj" fmla="val 12000"/>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2084831"/>
            <a:ext cx="2761488" cy="384048"/>
          </a:xfrm>
          <a:prstGeom prst="rect">
            <a:avLst/>
          </a:prstGeom>
          <a:noFill/>
        </p:spPr>
        <p:txBody>
          <a:bodyPr wrap="square" lIns="45720" rIns="45720" anchor="t">
            <a:spAutoFit/>
          </a:bodyPr>
          <a:lstStyle/>
          <a:p>
            <a:pPr algn="l"/>
            <a:r>
              <a:rPr sz="2500" b="1">
                <a:solidFill>
                  <a:srgbClr val="F5A623"/>
                </a:solidFill>
                <a:latin typeface="Aptos"/>
              </a:rPr>
              <a:t>4.2%</a:t>
            </a:r>
          </a:p>
        </p:txBody>
      </p:sp>
      <p:sp>
        <p:nvSpPr>
          <p:cNvPr id="15" name="TextBox 14"/>
          <p:cNvSpPr txBox="1"/>
          <p:nvPr/>
        </p:nvSpPr>
        <p:spPr>
          <a:xfrm>
            <a:off x="4754880" y="2587752"/>
            <a:ext cx="2761488" cy="292608"/>
          </a:xfrm>
          <a:prstGeom prst="rect">
            <a:avLst/>
          </a:prstGeom>
          <a:noFill/>
        </p:spPr>
        <p:txBody>
          <a:bodyPr wrap="square" lIns="45720" rIns="45720" anchor="t">
            <a:spAutoFit/>
          </a:bodyPr>
          <a:lstStyle/>
          <a:p>
            <a:pPr algn="l"/>
            <a:r>
              <a:rPr sz="1200" b="1">
                <a:solidFill>
                  <a:srgbClr val="22222A"/>
                </a:solidFill>
                <a:latin typeface="Aptos"/>
              </a:rPr>
              <a:t>웹 방문 대비 구매 전환율</a:t>
            </a:r>
          </a:p>
        </p:txBody>
      </p:sp>
      <p:sp>
        <p:nvSpPr>
          <p:cNvPr id="16" name="TextBox 15"/>
          <p:cNvSpPr txBox="1"/>
          <p:nvPr/>
        </p:nvSpPr>
        <p:spPr>
          <a:xfrm>
            <a:off x="4754880" y="2907791"/>
            <a:ext cx="2761488" cy="228600"/>
          </a:xfrm>
          <a:prstGeom prst="rect">
            <a:avLst/>
          </a:prstGeom>
          <a:noFill/>
        </p:spPr>
        <p:txBody>
          <a:bodyPr wrap="square" lIns="45720" rIns="45720" anchor="t">
            <a:spAutoFit/>
          </a:bodyPr>
          <a:lstStyle/>
          <a:p>
            <a:pPr algn="l"/>
            <a:r>
              <a:rPr sz="1000" b="0">
                <a:solidFill>
                  <a:srgbClr val="64748B"/>
                </a:solidFill>
                <a:latin typeface="Aptos"/>
              </a:rPr>
              <a:t>구매 전환 신호</a:t>
            </a:r>
          </a:p>
        </p:txBody>
      </p:sp>
      <p:sp>
        <p:nvSpPr>
          <p:cNvPr id="17" name="Rounded Rectangle 16"/>
          <p:cNvSpPr/>
          <p:nvPr/>
        </p:nvSpPr>
        <p:spPr>
          <a:xfrm>
            <a:off x="8220456" y="1874519"/>
            <a:ext cx="3200400" cy="1572768"/>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20456" y="1874519"/>
            <a:ext cx="73152" cy="1572768"/>
          </a:xfrm>
          <a:prstGeom prst="roundRect">
            <a:avLst>
              <a:gd name="adj" fmla="val 12000"/>
            </a:avLst>
          </a:prstGeom>
          <a:solidFill>
            <a:srgbClr val="7C93B8"/>
          </a:solidFill>
          <a:ln>
            <a:solidFill>
              <a:srgbClr val="7C9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76488" y="2084831"/>
            <a:ext cx="2761488" cy="384048"/>
          </a:xfrm>
          <a:prstGeom prst="rect">
            <a:avLst/>
          </a:prstGeom>
          <a:noFill/>
        </p:spPr>
        <p:txBody>
          <a:bodyPr wrap="square" lIns="45720" rIns="45720" anchor="t">
            <a:spAutoFit/>
          </a:bodyPr>
          <a:lstStyle/>
          <a:p>
            <a:pPr algn="l"/>
            <a:r>
              <a:rPr sz="2500" b="1">
                <a:solidFill>
                  <a:srgbClr val="7C93B8"/>
                </a:solidFill>
                <a:latin typeface="Aptos"/>
              </a:rPr>
              <a:t>1.9%</a:t>
            </a:r>
          </a:p>
        </p:txBody>
      </p:sp>
      <p:sp>
        <p:nvSpPr>
          <p:cNvPr id="20" name="TextBox 19"/>
          <p:cNvSpPr txBox="1"/>
          <p:nvPr/>
        </p:nvSpPr>
        <p:spPr>
          <a:xfrm>
            <a:off x="8476488" y="2587752"/>
            <a:ext cx="2761488" cy="292608"/>
          </a:xfrm>
          <a:prstGeom prst="rect">
            <a:avLst/>
          </a:prstGeom>
          <a:noFill/>
        </p:spPr>
        <p:txBody>
          <a:bodyPr wrap="square" lIns="45720" rIns="45720" anchor="t">
            <a:spAutoFit/>
          </a:bodyPr>
          <a:lstStyle/>
          <a:p>
            <a:pPr algn="l"/>
            <a:r>
              <a:rPr sz="1200" b="1">
                <a:solidFill>
                  <a:srgbClr val="22222A"/>
                </a:solidFill>
                <a:latin typeface="Aptos"/>
              </a:rPr>
              <a:t>반품률</a:t>
            </a:r>
          </a:p>
        </p:txBody>
      </p:sp>
      <p:sp>
        <p:nvSpPr>
          <p:cNvPr id="21" name="TextBox 20"/>
          <p:cNvSpPr txBox="1"/>
          <p:nvPr/>
        </p:nvSpPr>
        <p:spPr>
          <a:xfrm>
            <a:off x="8476488" y="2907791"/>
            <a:ext cx="2761488" cy="228600"/>
          </a:xfrm>
          <a:prstGeom prst="rect">
            <a:avLst/>
          </a:prstGeom>
          <a:noFill/>
        </p:spPr>
        <p:txBody>
          <a:bodyPr wrap="square" lIns="45720" rIns="45720" anchor="t">
            <a:spAutoFit/>
          </a:bodyPr>
          <a:lstStyle/>
          <a:p>
            <a:pPr algn="l"/>
            <a:r>
              <a:rPr sz="1000" b="0">
                <a:solidFill>
                  <a:srgbClr val="64748B"/>
                </a:solidFill>
                <a:latin typeface="Aptos"/>
              </a:rPr>
              <a:t>제품 경험 안정성</a:t>
            </a:r>
          </a:p>
        </p:txBody>
      </p:sp>
      <p:sp>
        <p:nvSpPr>
          <p:cNvPr id="22" name="Rounded Rectangle 21"/>
          <p:cNvSpPr/>
          <p:nvPr/>
        </p:nvSpPr>
        <p:spPr>
          <a:xfrm>
            <a:off x="777240" y="4041648"/>
            <a:ext cx="10643616" cy="1115568"/>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4279392"/>
            <a:ext cx="2011680" cy="228600"/>
          </a:xfrm>
          <a:prstGeom prst="rect">
            <a:avLst/>
          </a:prstGeom>
          <a:noFill/>
        </p:spPr>
        <p:txBody>
          <a:bodyPr wrap="square" lIns="45720" rIns="45720" anchor="t">
            <a:spAutoFit/>
          </a:bodyPr>
          <a:lstStyle/>
          <a:p>
            <a:pPr algn="l"/>
            <a:r>
              <a:rPr sz="1200" b="1">
                <a:solidFill>
                  <a:srgbClr val="F5A623"/>
                </a:solidFill>
                <a:latin typeface="Aptos"/>
              </a:rPr>
              <a:t>고객 관점의 함의</a:t>
            </a:r>
          </a:p>
        </p:txBody>
      </p:sp>
      <p:sp>
        <p:nvSpPr>
          <p:cNvPr id="24" name="TextBox 23"/>
          <p:cNvSpPr txBox="1"/>
          <p:nvPr/>
        </p:nvSpPr>
        <p:spPr>
          <a:xfrm>
            <a:off x="1051560" y="4590288"/>
            <a:ext cx="9418320" cy="274320"/>
          </a:xfrm>
          <a:prstGeom prst="rect">
            <a:avLst/>
          </a:prstGeom>
          <a:noFill/>
        </p:spPr>
        <p:txBody>
          <a:bodyPr wrap="square" lIns="45720" rIns="45720" anchor="t">
            <a:spAutoFit/>
          </a:bodyPr>
          <a:lstStyle/>
          <a:p>
            <a:pPr algn="l"/>
            <a:r>
              <a:rPr sz="1700" b="1">
                <a:solidFill>
                  <a:srgbClr val="22222A"/>
                </a:solidFill>
                <a:latin typeface="Aptos"/>
              </a:rPr>
              <a:t>전환을 확장하되, 재구매 의향 응답을 다음 캠페인의 타깃·메시지 설계에 활용합니다.</a:t>
            </a:r>
          </a:p>
        </p:txBody>
      </p:sp>
      <p:sp>
        <p:nvSpPr>
          <p:cNvPr id="25" name="TextBox 24"/>
          <p:cNvSpPr txBox="1"/>
          <p:nvPr/>
        </p:nvSpPr>
        <p:spPr>
          <a:xfrm>
            <a:off x="521207" y="6473952"/>
            <a:ext cx="3657600" cy="164592"/>
          </a:xfrm>
          <a:prstGeom prst="rect">
            <a:avLst/>
          </a:prstGeom>
          <a:noFill/>
        </p:spPr>
        <p:txBody>
          <a:bodyPr wrap="square" lIns="45720" rIns="45720" anchor="t">
            <a:spAutoFit/>
          </a:bodyPr>
          <a:lstStyle/>
          <a:p>
            <a:pPr algn="l"/>
            <a:r>
              <a:rPr sz="800" b="1">
                <a:solidFill>
                  <a:srgbClr val="7C93B8"/>
                </a:solidFill>
                <a:latin typeface="Aptos"/>
              </a:rPr>
              <a:t>AURORA KIT  |  출시 6주 성과</a:t>
            </a:r>
          </a:p>
        </p:txBody>
      </p:sp>
      <p:sp>
        <p:nvSpPr>
          <p:cNvPr id="26" name="TextBox 25"/>
          <p:cNvSpPr txBox="1"/>
          <p:nvPr/>
        </p:nvSpPr>
        <p:spPr>
          <a:xfrm>
            <a:off x="10744200" y="6473952"/>
            <a:ext cx="822960" cy="164592"/>
          </a:xfrm>
          <a:prstGeom prst="rect">
            <a:avLst/>
          </a:prstGeom>
          <a:noFill/>
        </p:spPr>
        <p:txBody>
          <a:bodyPr wrap="square" lIns="45720" rIns="45720" anchor="t">
            <a:spAutoFit/>
          </a:bodyPr>
          <a:lstStyle/>
          <a:p>
            <a:pPr algn="r"/>
            <a:r>
              <a:rPr sz="800" b="1">
                <a:solidFill>
                  <a:srgbClr val="7C93B8"/>
                </a:solidFill>
                <a:latin typeface="Aptos"/>
              </a:rPr>
              <a:t>6 / 09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solidFill>
              <a:srgbClr val="FAF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457200" cy="274320"/>
          </a:xfrm>
          <a:prstGeom prst="rect">
            <a:avLst/>
          </a:prstGeom>
          <a:noFill/>
        </p:spPr>
        <p:txBody>
          <a:bodyPr wrap="square" lIns="45720" rIns="45720" anchor="t">
            <a:spAutoFit/>
          </a:bodyPr>
          <a:lstStyle/>
          <a:p>
            <a:pPr algn="l"/>
            <a:r>
              <a:rPr sz="1000" b="1">
                <a:solidFill>
                  <a:srgbClr val="F5A623"/>
                </a:solidFill>
                <a:latin typeface="Aptos"/>
              </a:rPr>
              <a:t>07</a:t>
            </a:r>
          </a:p>
        </p:txBody>
      </p:sp>
      <p:sp>
        <p:nvSpPr>
          <p:cNvPr id="4" name="TextBox 3"/>
          <p:cNvSpPr txBox="1"/>
          <p:nvPr/>
        </p:nvSpPr>
        <p:spPr>
          <a:xfrm>
            <a:off x="502920" y="621792"/>
            <a:ext cx="11064240" cy="502920"/>
          </a:xfrm>
          <a:prstGeom prst="rect">
            <a:avLst/>
          </a:prstGeom>
          <a:noFill/>
        </p:spPr>
        <p:txBody>
          <a:bodyPr wrap="square" lIns="45720" rIns="45720" anchor="t">
            <a:spAutoFit/>
          </a:bodyPr>
          <a:lstStyle/>
          <a:p>
            <a:pPr algn="l"/>
            <a:r>
              <a:rPr sz="2700" b="1">
                <a:solidFill>
                  <a:srgbClr val="1B2A4A"/>
                </a:solidFill>
                <a:latin typeface="Aptos"/>
              </a:rPr>
              <a:t>성과를 확장하기 전에 두 가지 운영 리스크를 해소해야 합니다</a:t>
            </a:r>
          </a:p>
        </p:txBody>
      </p:sp>
      <p:sp>
        <p:nvSpPr>
          <p:cNvPr id="5" name="TextBox 4"/>
          <p:cNvSpPr txBox="1"/>
          <p:nvPr/>
        </p:nvSpPr>
        <p:spPr>
          <a:xfrm>
            <a:off x="521207" y="1170432"/>
            <a:ext cx="10789920" cy="256032"/>
          </a:xfrm>
          <a:prstGeom prst="rect">
            <a:avLst/>
          </a:prstGeom>
          <a:noFill/>
        </p:spPr>
        <p:txBody>
          <a:bodyPr wrap="square" lIns="45720" rIns="45720" anchor="t">
            <a:spAutoFit/>
          </a:bodyPr>
          <a:lstStyle/>
          <a:p>
            <a:pPr algn="l"/>
            <a:r>
              <a:rPr sz="1100" b="0">
                <a:solidFill>
                  <a:srgbClr val="64748B"/>
                </a:solidFill>
                <a:latin typeface="Aptos"/>
              </a:rPr>
              <a:t>리스크와 확인 필요 사항</a:t>
            </a:r>
          </a:p>
        </p:txBody>
      </p:sp>
      <p:sp>
        <p:nvSpPr>
          <p:cNvPr id="6" name="Rectangle 5"/>
          <p:cNvSpPr/>
          <p:nvPr/>
        </p:nvSpPr>
        <p:spPr>
          <a:xfrm>
            <a:off x="502920" y="1508760"/>
            <a:ext cx="11109960" cy="22860"/>
          </a:xfrm>
          <a:prstGeom prst="rect">
            <a:avLst/>
          </a:prstGeom>
          <a:solidFill>
            <a:srgbClr val="E9EEF5"/>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874519"/>
            <a:ext cx="5193792" cy="2468880"/>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2212848"/>
            <a:ext cx="3474720" cy="274320"/>
          </a:xfrm>
          <a:prstGeom prst="rect">
            <a:avLst/>
          </a:prstGeom>
          <a:noFill/>
        </p:spPr>
        <p:txBody>
          <a:bodyPr wrap="square" lIns="45720" rIns="45720" anchor="t">
            <a:spAutoFit/>
          </a:bodyPr>
          <a:lstStyle/>
          <a:p>
            <a:pPr algn="l"/>
            <a:r>
              <a:rPr sz="1900" b="1">
                <a:solidFill>
                  <a:srgbClr val="1B2A4A"/>
                </a:solidFill>
                <a:latin typeface="Aptos"/>
              </a:rPr>
              <a:t>01  매출 기준 불일치</a:t>
            </a:r>
          </a:p>
        </p:txBody>
      </p:sp>
      <p:sp>
        <p:nvSpPr>
          <p:cNvPr id="9" name="TextBox 8"/>
          <p:cNvSpPr txBox="1"/>
          <p:nvPr/>
        </p:nvSpPr>
        <p:spPr>
          <a:xfrm>
            <a:off x="987552" y="2798064"/>
            <a:ext cx="2011680" cy="228600"/>
          </a:xfrm>
          <a:prstGeom prst="rect">
            <a:avLst/>
          </a:prstGeom>
          <a:noFill/>
        </p:spPr>
        <p:txBody>
          <a:bodyPr wrap="square" lIns="45720" rIns="45720" anchor="t">
            <a:spAutoFit/>
          </a:bodyPr>
          <a:lstStyle/>
          <a:p>
            <a:pPr algn="l"/>
            <a:r>
              <a:rPr sz="1200" b="0">
                <a:solidFill>
                  <a:srgbClr val="64748B"/>
                </a:solidFill>
                <a:latin typeface="Aptos"/>
              </a:rPr>
              <a:t>영업팀 주간 보고</a:t>
            </a:r>
          </a:p>
        </p:txBody>
      </p:sp>
      <p:sp>
        <p:nvSpPr>
          <p:cNvPr id="10" name="TextBox 9"/>
          <p:cNvSpPr txBox="1"/>
          <p:nvPr/>
        </p:nvSpPr>
        <p:spPr>
          <a:xfrm>
            <a:off x="987552" y="3035808"/>
            <a:ext cx="1463040" cy="402336"/>
          </a:xfrm>
          <a:prstGeom prst="rect">
            <a:avLst/>
          </a:prstGeom>
          <a:noFill/>
        </p:spPr>
        <p:txBody>
          <a:bodyPr wrap="square" lIns="45720" rIns="45720" anchor="t">
            <a:spAutoFit/>
          </a:bodyPr>
          <a:lstStyle/>
          <a:p>
            <a:pPr algn="l"/>
            <a:r>
              <a:rPr sz="2700" b="1">
                <a:solidFill>
                  <a:srgbClr val="1B2A4A"/>
                </a:solidFill>
                <a:latin typeface="Aptos"/>
              </a:rPr>
              <a:t>3억 원</a:t>
            </a:r>
          </a:p>
        </p:txBody>
      </p:sp>
      <p:sp>
        <p:nvSpPr>
          <p:cNvPr id="11" name="TextBox 10"/>
          <p:cNvSpPr txBox="1"/>
          <p:nvPr/>
        </p:nvSpPr>
        <p:spPr>
          <a:xfrm>
            <a:off x="3401568" y="2798064"/>
            <a:ext cx="2011680" cy="228600"/>
          </a:xfrm>
          <a:prstGeom prst="rect">
            <a:avLst/>
          </a:prstGeom>
          <a:noFill/>
        </p:spPr>
        <p:txBody>
          <a:bodyPr wrap="square" lIns="45720" rIns="45720" anchor="t">
            <a:spAutoFit/>
          </a:bodyPr>
          <a:lstStyle/>
          <a:p>
            <a:pPr algn="l"/>
            <a:r>
              <a:rPr sz="1200" b="0">
                <a:solidFill>
                  <a:srgbClr val="64748B"/>
                </a:solidFill>
                <a:latin typeface="Aptos"/>
              </a:rPr>
              <a:t>재무팀 마감 보고</a:t>
            </a:r>
          </a:p>
        </p:txBody>
      </p:sp>
      <p:sp>
        <p:nvSpPr>
          <p:cNvPr id="12" name="TextBox 11"/>
          <p:cNvSpPr txBox="1"/>
          <p:nvPr/>
        </p:nvSpPr>
        <p:spPr>
          <a:xfrm>
            <a:off x="3401568" y="3035808"/>
            <a:ext cx="1554480" cy="402336"/>
          </a:xfrm>
          <a:prstGeom prst="rect">
            <a:avLst/>
          </a:prstGeom>
          <a:noFill/>
        </p:spPr>
        <p:txBody>
          <a:bodyPr wrap="square" lIns="45720" rIns="45720" anchor="t">
            <a:spAutoFit/>
          </a:bodyPr>
          <a:lstStyle/>
          <a:p>
            <a:pPr algn="l"/>
            <a:r>
              <a:rPr sz="2700" b="1">
                <a:solidFill>
                  <a:srgbClr val="F5A623"/>
                </a:solidFill>
                <a:latin typeface="Aptos"/>
              </a:rPr>
              <a:t>3.4억 원</a:t>
            </a:r>
          </a:p>
        </p:txBody>
      </p:sp>
      <p:sp>
        <p:nvSpPr>
          <p:cNvPr id="13" name="TextBox 12"/>
          <p:cNvSpPr txBox="1"/>
          <p:nvPr/>
        </p:nvSpPr>
        <p:spPr>
          <a:xfrm>
            <a:off x="987552" y="3840480"/>
            <a:ext cx="4480560" cy="228600"/>
          </a:xfrm>
          <a:prstGeom prst="rect">
            <a:avLst/>
          </a:prstGeom>
          <a:noFill/>
        </p:spPr>
        <p:txBody>
          <a:bodyPr wrap="square" lIns="45720" rIns="45720" anchor="t">
            <a:spAutoFit/>
          </a:bodyPr>
          <a:lstStyle/>
          <a:p>
            <a:pPr algn="l"/>
            <a:r>
              <a:rPr sz="1200" b="1">
                <a:solidFill>
                  <a:srgbClr val="22222A"/>
                </a:solidFill>
                <a:latin typeface="Aptos"/>
              </a:rPr>
              <a:t>확인 필요: 집계 기준·시점 정렬 후 단일 기준 확정</a:t>
            </a:r>
          </a:p>
        </p:txBody>
      </p:sp>
      <p:sp>
        <p:nvSpPr>
          <p:cNvPr id="14" name="Rounded Rectangle 13"/>
          <p:cNvSpPr/>
          <p:nvPr/>
        </p:nvSpPr>
        <p:spPr>
          <a:xfrm>
            <a:off x="6263640" y="1874519"/>
            <a:ext cx="5193792" cy="2468880"/>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2212848"/>
            <a:ext cx="3474720" cy="274320"/>
          </a:xfrm>
          <a:prstGeom prst="rect">
            <a:avLst/>
          </a:prstGeom>
          <a:noFill/>
        </p:spPr>
        <p:txBody>
          <a:bodyPr wrap="square" lIns="45720" rIns="45720" anchor="t">
            <a:spAutoFit/>
          </a:bodyPr>
          <a:lstStyle/>
          <a:p>
            <a:pPr algn="l"/>
            <a:r>
              <a:rPr sz="1900" b="1">
                <a:solidFill>
                  <a:srgbClr val="1B2A4A"/>
                </a:solidFill>
                <a:latin typeface="Aptos"/>
              </a:rPr>
              <a:t>02  재고 회전 편차</a:t>
            </a:r>
          </a:p>
        </p:txBody>
      </p:sp>
      <p:sp>
        <p:nvSpPr>
          <p:cNvPr id="16" name="TextBox 15"/>
          <p:cNvSpPr txBox="1"/>
          <p:nvPr/>
        </p:nvSpPr>
        <p:spPr>
          <a:xfrm>
            <a:off x="6537960" y="2816352"/>
            <a:ext cx="4297680" cy="411480"/>
          </a:xfrm>
          <a:prstGeom prst="rect">
            <a:avLst/>
          </a:prstGeom>
          <a:noFill/>
        </p:spPr>
        <p:txBody>
          <a:bodyPr wrap="square" lIns="45720" rIns="45720" anchor="t">
            <a:spAutoFit/>
          </a:bodyPr>
          <a:lstStyle/>
          <a:p>
            <a:pPr algn="l"/>
            <a:r>
              <a:rPr sz="1600" b="0">
                <a:solidFill>
                  <a:srgbClr val="22222A"/>
                </a:solidFill>
                <a:latin typeface="Aptos"/>
              </a:rPr>
              <a:t>채널별 수익성과 재고 회전의 편차가 확대</a:t>
            </a:r>
          </a:p>
        </p:txBody>
      </p:sp>
      <p:sp>
        <p:nvSpPr>
          <p:cNvPr id="17" name="TextBox 16"/>
          <p:cNvSpPr txBox="1"/>
          <p:nvPr/>
        </p:nvSpPr>
        <p:spPr>
          <a:xfrm>
            <a:off x="6537960" y="3675887"/>
            <a:ext cx="4389120" cy="347472"/>
          </a:xfrm>
          <a:prstGeom prst="rect">
            <a:avLst/>
          </a:prstGeom>
          <a:noFill/>
        </p:spPr>
        <p:txBody>
          <a:bodyPr wrap="square" lIns="45720" rIns="45720" anchor="t">
            <a:spAutoFit/>
          </a:bodyPr>
          <a:lstStyle/>
          <a:p>
            <a:pPr algn="l"/>
            <a:r>
              <a:rPr sz="1200" b="1">
                <a:solidFill>
                  <a:srgbClr val="22222A"/>
                </a:solidFill>
                <a:latin typeface="Aptos"/>
              </a:rPr>
              <a:t>확인 필요: 고효율 채널 우선 배분 전, 채널별 회전·마진 점검</a:t>
            </a:r>
          </a:p>
        </p:txBody>
      </p:sp>
      <p:sp>
        <p:nvSpPr>
          <p:cNvPr id="18" name="TextBox 17"/>
          <p:cNvSpPr txBox="1"/>
          <p:nvPr/>
        </p:nvSpPr>
        <p:spPr>
          <a:xfrm>
            <a:off x="822960" y="5166360"/>
            <a:ext cx="10515600" cy="292608"/>
          </a:xfrm>
          <a:prstGeom prst="rect">
            <a:avLst/>
          </a:prstGeom>
          <a:noFill/>
        </p:spPr>
        <p:txBody>
          <a:bodyPr wrap="square" lIns="45720" rIns="45720" anchor="t">
            <a:spAutoFit/>
          </a:bodyPr>
          <a:lstStyle/>
          <a:p>
            <a:pPr algn="ctr"/>
            <a:r>
              <a:rPr sz="1800" b="1">
                <a:solidFill>
                  <a:srgbClr val="1B2A4A"/>
                </a:solidFill>
                <a:latin typeface="Aptos"/>
              </a:rPr>
              <a:t>원칙: 수치의 신뢰도를 먼저 정렬하고, 그 위에서 예산을 재배분합니다.</a:t>
            </a:r>
          </a:p>
        </p:txBody>
      </p:sp>
      <p:sp>
        <p:nvSpPr>
          <p:cNvPr id="19" name="TextBox 18"/>
          <p:cNvSpPr txBox="1"/>
          <p:nvPr/>
        </p:nvSpPr>
        <p:spPr>
          <a:xfrm>
            <a:off x="521207" y="6473952"/>
            <a:ext cx="3657600" cy="164592"/>
          </a:xfrm>
          <a:prstGeom prst="rect">
            <a:avLst/>
          </a:prstGeom>
          <a:noFill/>
        </p:spPr>
        <p:txBody>
          <a:bodyPr wrap="square" lIns="45720" rIns="45720" anchor="t">
            <a:spAutoFit/>
          </a:bodyPr>
          <a:lstStyle/>
          <a:p>
            <a:pPr algn="l"/>
            <a:r>
              <a:rPr sz="800" b="1">
                <a:solidFill>
                  <a:srgbClr val="7C93B8"/>
                </a:solidFill>
                <a:latin typeface="Aptos"/>
              </a:rPr>
              <a:t>AURORA KIT  |  출시 6주 성과</a:t>
            </a:r>
          </a:p>
        </p:txBody>
      </p:sp>
      <p:sp>
        <p:nvSpPr>
          <p:cNvPr id="20" name="TextBox 19"/>
          <p:cNvSpPr txBox="1"/>
          <p:nvPr/>
        </p:nvSpPr>
        <p:spPr>
          <a:xfrm>
            <a:off x="10744200" y="6473952"/>
            <a:ext cx="822960" cy="164592"/>
          </a:xfrm>
          <a:prstGeom prst="rect">
            <a:avLst/>
          </a:prstGeom>
          <a:noFill/>
        </p:spPr>
        <p:txBody>
          <a:bodyPr wrap="square" lIns="45720" rIns="45720" anchor="t">
            <a:spAutoFit/>
          </a:bodyPr>
          <a:lstStyle/>
          <a:p>
            <a:pPr algn="r"/>
            <a:r>
              <a:rPr sz="800" b="1">
                <a:solidFill>
                  <a:srgbClr val="7C93B8"/>
                </a:solidFill>
                <a:latin typeface="Aptos"/>
              </a:rPr>
              <a:t>7 / 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0"/>
          </a:solidFill>
          <a:ln>
            <a:solidFill>
              <a:srgbClr val="FAF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457200" cy="274320"/>
          </a:xfrm>
          <a:prstGeom prst="rect">
            <a:avLst/>
          </a:prstGeom>
          <a:noFill/>
        </p:spPr>
        <p:txBody>
          <a:bodyPr wrap="square" lIns="45720" rIns="45720" anchor="t">
            <a:spAutoFit/>
          </a:bodyPr>
          <a:lstStyle/>
          <a:p>
            <a:pPr algn="l"/>
            <a:r>
              <a:rPr sz="1000" b="1">
                <a:solidFill>
                  <a:srgbClr val="F5A623"/>
                </a:solidFill>
                <a:latin typeface="Aptos"/>
              </a:rPr>
              <a:t>08</a:t>
            </a:r>
          </a:p>
        </p:txBody>
      </p:sp>
      <p:sp>
        <p:nvSpPr>
          <p:cNvPr id="4" name="TextBox 3"/>
          <p:cNvSpPr txBox="1"/>
          <p:nvPr/>
        </p:nvSpPr>
        <p:spPr>
          <a:xfrm>
            <a:off x="502920" y="621792"/>
            <a:ext cx="11064240" cy="502920"/>
          </a:xfrm>
          <a:prstGeom prst="rect">
            <a:avLst/>
          </a:prstGeom>
          <a:noFill/>
        </p:spPr>
        <p:txBody>
          <a:bodyPr wrap="square" lIns="45720" rIns="45720" anchor="t">
            <a:spAutoFit/>
          </a:bodyPr>
          <a:lstStyle/>
          <a:p>
            <a:pPr algn="l"/>
            <a:r>
              <a:rPr sz="2700" b="1">
                <a:solidFill>
                  <a:srgbClr val="1B2A4A"/>
                </a:solidFill>
                <a:latin typeface="Aptos"/>
              </a:rPr>
              <a:t>다음 분기: 8억 원을 고효율 채널 중심으로 재배분해 주십시오</a:t>
            </a:r>
          </a:p>
        </p:txBody>
      </p:sp>
      <p:sp>
        <p:nvSpPr>
          <p:cNvPr id="5" name="TextBox 4"/>
          <p:cNvSpPr txBox="1"/>
          <p:nvPr/>
        </p:nvSpPr>
        <p:spPr>
          <a:xfrm>
            <a:off x="521207" y="1170432"/>
            <a:ext cx="10789920" cy="256032"/>
          </a:xfrm>
          <a:prstGeom prst="rect">
            <a:avLst/>
          </a:prstGeom>
          <a:noFill/>
        </p:spPr>
        <p:txBody>
          <a:bodyPr wrap="square" lIns="45720" rIns="45720" anchor="t">
            <a:spAutoFit/>
          </a:bodyPr>
          <a:lstStyle/>
          <a:p>
            <a:pPr algn="l"/>
            <a:r>
              <a:rPr sz="1100" b="0">
                <a:solidFill>
                  <a:srgbClr val="64748B"/>
                </a:solidFill>
                <a:latin typeface="Aptos"/>
              </a:rPr>
              <a:t>의사결정 요청</a:t>
            </a:r>
          </a:p>
        </p:txBody>
      </p:sp>
      <p:sp>
        <p:nvSpPr>
          <p:cNvPr id="6" name="Rectangle 5"/>
          <p:cNvSpPr/>
          <p:nvPr/>
        </p:nvSpPr>
        <p:spPr>
          <a:xfrm>
            <a:off x="502920" y="1508760"/>
            <a:ext cx="11109960" cy="22860"/>
          </a:xfrm>
          <a:prstGeom prst="rect">
            <a:avLst/>
          </a:prstGeom>
          <a:solidFill>
            <a:srgbClr val="E9EEF5"/>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828800"/>
            <a:ext cx="2971800" cy="3090672"/>
          </a:xfrm>
          <a:prstGeom prst="roundRect">
            <a:avLst>
              <a:gd name="adj" fmla="val 12000"/>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212848"/>
            <a:ext cx="1463040" cy="228600"/>
          </a:xfrm>
          <a:prstGeom prst="rect">
            <a:avLst/>
          </a:prstGeom>
          <a:noFill/>
        </p:spPr>
        <p:txBody>
          <a:bodyPr wrap="square" lIns="45720" rIns="45720" anchor="t">
            <a:spAutoFit/>
          </a:bodyPr>
          <a:lstStyle/>
          <a:p>
            <a:pPr algn="l"/>
            <a:r>
              <a:rPr sz="1300" b="1">
                <a:solidFill>
                  <a:srgbClr val="F5A623"/>
                </a:solidFill>
                <a:latin typeface="Aptos"/>
              </a:rPr>
              <a:t>요청 예산</a:t>
            </a:r>
          </a:p>
        </p:txBody>
      </p:sp>
      <p:sp>
        <p:nvSpPr>
          <p:cNvPr id="9" name="TextBox 8"/>
          <p:cNvSpPr txBox="1"/>
          <p:nvPr/>
        </p:nvSpPr>
        <p:spPr>
          <a:xfrm>
            <a:off x="1005840" y="2560320"/>
            <a:ext cx="2011680" cy="502920"/>
          </a:xfrm>
          <a:prstGeom prst="rect">
            <a:avLst/>
          </a:prstGeom>
          <a:noFill/>
        </p:spPr>
        <p:txBody>
          <a:bodyPr wrap="square" lIns="45720" rIns="45720" anchor="t">
            <a:spAutoFit/>
          </a:bodyPr>
          <a:lstStyle/>
          <a:p>
            <a:pPr algn="l"/>
            <a:r>
              <a:rPr sz="3300" b="1">
                <a:solidFill>
                  <a:srgbClr val="FFFFFF"/>
                </a:solidFill>
                <a:latin typeface="Aptos"/>
              </a:rPr>
              <a:t>8억 원</a:t>
            </a:r>
          </a:p>
        </p:txBody>
      </p:sp>
      <p:sp>
        <p:nvSpPr>
          <p:cNvPr id="10" name="TextBox 9"/>
          <p:cNvSpPr txBox="1"/>
          <p:nvPr/>
        </p:nvSpPr>
        <p:spPr>
          <a:xfrm>
            <a:off x="1005840" y="3255264"/>
            <a:ext cx="1828800" cy="502920"/>
          </a:xfrm>
          <a:prstGeom prst="rect">
            <a:avLst/>
          </a:prstGeom>
          <a:noFill/>
        </p:spPr>
        <p:txBody>
          <a:bodyPr wrap="square" lIns="45720" rIns="45720" anchor="t">
            <a:spAutoFit/>
          </a:bodyPr>
          <a:lstStyle/>
          <a:p>
            <a:pPr algn="l"/>
            <a:r>
              <a:rPr sz="1600" b="0">
                <a:solidFill>
                  <a:srgbClr val="FFFFFF"/>
                </a:solidFill>
                <a:latin typeface="Aptos"/>
              </a:rPr>
              <a:t>다음 분기 추가
마케팅 예산</a:t>
            </a:r>
          </a:p>
        </p:txBody>
      </p:sp>
      <p:sp>
        <p:nvSpPr>
          <p:cNvPr id="11" name="Rounded Rectangle 10"/>
          <p:cNvSpPr/>
          <p:nvPr/>
        </p:nvSpPr>
        <p:spPr>
          <a:xfrm>
            <a:off x="4251960" y="1828800"/>
            <a:ext cx="7086600" cy="841248"/>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80560" y="2011680"/>
            <a:ext cx="384048" cy="384048"/>
          </a:xfrm>
          <a:prstGeom prst="roundRect">
            <a:avLst>
              <a:gd name="adj" fmla="val 12000"/>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057400"/>
            <a:ext cx="384048" cy="164592"/>
          </a:xfrm>
          <a:prstGeom prst="rect">
            <a:avLst/>
          </a:prstGeom>
          <a:noFill/>
        </p:spPr>
        <p:txBody>
          <a:bodyPr wrap="square" lIns="45720" rIns="45720" anchor="t">
            <a:spAutoFit/>
          </a:bodyPr>
          <a:lstStyle/>
          <a:p>
            <a:pPr algn="ctr"/>
            <a:r>
              <a:rPr sz="1100" b="1">
                <a:solidFill>
                  <a:srgbClr val="1B2A4A"/>
                </a:solidFill>
                <a:latin typeface="Aptos"/>
              </a:rPr>
              <a:t>1</a:t>
            </a:r>
          </a:p>
        </p:txBody>
      </p:sp>
      <p:sp>
        <p:nvSpPr>
          <p:cNvPr id="14" name="TextBox 13"/>
          <p:cNvSpPr txBox="1"/>
          <p:nvPr/>
        </p:nvSpPr>
        <p:spPr>
          <a:xfrm>
            <a:off x="5074920" y="1993392"/>
            <a:ext cx="2468880" cy="228600"/>
          </a:xfrm>
          <a:prstGeom prst="rect">
            <a:avLst/>
          </a:prstGeom>
          <a:noFill/>
        </p:spPr>
        <p:txBody>
          <a:bodyPr wrap="square" lIns="45720" rIns="45720" anchor="t">
            <a:spAutoFit/>
          </a:bodyPr>
          <a:lstStyle/>
          <a:p>
            <a:pPr algn="l"/>
            <a:r>
              <a:rPr sz="1600" b="1">
                <a:solidFill>
                  <a:srgbClr val="1B2A4A"/>
                </a:solidFill>
                <a:latin typeface="Aptos"/>
              </a:rPr>
              <a:t>고효율 채널 우선</a:t>
            </a:r>
          </a:p>
        </p:txBody>
      </p:sp>
      <p:sp>
        <p:nvSpPr>
          <p:cNvPr id="15" name="TextBox 14"/>
          <p:cNvSpPr txBox="1"/>
          <p:nvPr/>
        </p:nvSpPr>
        <p:spPr>
          <a:xfrm>
            <a:off x="7406640" y="2011680"/>
            <a:ext cx="3474720" cy="228600"/>
          </a:xfrm>
          <a:prstGeom prst="rect">
            <a:avLst/>
          </a:prstGeom>
          <a:noFill/>
        </p:spPr>
        <p:txBody>
          <a:bodyPr wrap="square" lIns="45720" rIns="45720" anchor="t">
            <a:spAutoFit/>
          </a:bodyPr>
          <a:lstStyle/>
          <a:p>
            <a:pPr algn="l"/>
            <a:r>
              <a:rPr sz="1200" b="0">
                <a:solidFill>
                  <a:srgbClr val="22222A"/>
                </a:solidFill>
                <a:latin typeface="Aptos"/>
              </a:rPr>
              <a:t>수익성·회전이 검증된 채널에 집중</a:t>
            </a:r>
          </a:p>
        </p:txBody>
      </p:sp>
      <p:sp>
        <p:nvSpPr>
          <p:cNvPr id="16" name="Rounded Rectangle 15"/>
          <p:cNvSpPr/>
          <p:nvPr/>
        </p:nvSpPr>
        <p:spPr>
          <a:xfrm>
            <a:off x="4251960" y="2907791"/>
            <a:ext cx="7086600" cy="841248"/>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80560" y="3090672"/>
            <a:ext cx="384048" cy="384048"/>
          </a:xfrm>
          <a:prstGeom prst="roundRect">
            <a:avLst>
              <a:gd name="adj" fmla="val 12000"/>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136391"/>
            <a:ext cx="384048" cy="164592"/>
          </a:xfrm>
          <a:prstGeom prst="rect">
            <a:avLst/>
          </a:prstGeom>
          <a:noFill/>
        </p:spPr>
        <p:txBody>
          <a:bodyPr wrap="square" lIns="45720" rIns="45720" anchor="t">
            <a:spAutoFit/>
          </a:bodyPr>
          <a:lstStyle/>
          <a:p>
            <a:pPr algn="ctr"/>
            <a:r>
              <a:rPr sz="1100" b="1">
                <a:solidFill>
                  <a:srgbClr val="1B2A4A"/>
                </a:solidFill>
                <a:latin typeface="Aptos"/>
              </a:rPr>
              <a:t>2</a:t>
            </a:r>
          </a:p>
        </p:txBody>
      </p:sp>
      <p:sp>
        <p:nvSpPr>
          <p:cNvPr id="19" name="TextBox 18"/>
          <p:cNvSpPr txBox="1"/>
          <p:nvPr/>
        </p:nvSpPr>
        <p:spPr>
          <a:xfrm>
            <a:off x="5074920" y="3072384"/>
            <a:ext cx="2468880" cy="228600"/>
          </a:xfrm>
          <a:prstGeom prst="rect">
            <a:avLst/>
          </a:prstGeom>
          <a:noFill/>
        </p:spPr>
        <p:txBody>
          <a:bodyPr wrap="square" lIns="45720" rIns="45720" anchor="t">
            <a:spAutoFit/>
          </a:bodyPr>
          <a:lstStyle/>
          <a:p>
            <a:pPr algn="l"/>
            <a:r>
              <a:rPr sz="1600" b="1">
                <a:solidFill>
                  <a:srgbClr val="1B2A4A"/>
                </a:solidFill>
                <a:latin typeface="Aptos"/>
              </a:rPr>
              <a:t>저효율 채널 개선</a:t>
            </a:r>
          </a:p>
        </p:txBody>
      </p:sp>
      <p:sp>
        <p:nvSpPr>
          <p:cNvPr id="20" name="TextBox 19"/>
          <p:cNvSpPr txBox="1"/>
          <p:nvPr/>
        </p:nvSpPr>
        <p:spPr>
          <a:xfrm>
            <a:off x="7406640" y="3090672"/>
            <a:ext cx="3474720" cy="228600"/>
          </a:xfrm>
          <a:prstGeom prst="rect">
            <a:avLst/>
          </a:prstGeom>
          <a:noFill/>
        </p:spPr>
        <p:txBody>
          <a:bodyPr wrap="square" lIns="45720" rIns="45720" anchor="t">
            <a:spAutoFit/>
          </a:bodyPr>
          <a:lstStyle/>
          <a:p>
            <a:pPr algn="l"/>
            <a:r>
              <a:rPr sz="1200" b="0">
                <a:solidFill>
                  <a:srgbClr val="22222A"/>
                </a:solidFill>
                <a:latin typeface="Aptos"/>
              </a:rPr>
              <a:t>원인 점검 후 조건부 확장</a:t>
            </a:r>
          </a:p>
        </p:txBody>
      </p:sp>
      <p:sp>
        <p:nvSpPr>
          <p:cNvPr id="21" name="Rounded Rectangle 20"/>
          <p:cNvSpPr/>
          <p:nvPr/>
        </p:nvSpPr>
        <p:spPr>
          <a:xfrm>
            <a:off x="4251960" y="3986783"/>
            <a:ext cx="7086600" cy="841248"/>
          </a:xfrm>
          <a:prstGeom prst="roundRect">
            <a:avLst>
              <a:gd name="adj" fmla="val 12000"/>
            </a:avLst>
          </a:prstGeom>
          <a:solidFill>
            <a:srgbClr val="FFFFFF"/>
          </a:solidFill>
          <a:ln>
            <a:solidFill>
              <a:srgbClr val="E9EE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80560" y="4169663"/>
            <a:ext cx="384048" cy="384048"/>
          </a:xfrm>
          <a:prstGeom prst="roundRect">
            <a:avLst>
              <a:gd name="adj" fmla="val 12000"/>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60" y="4215383"/>
            <a:ext cx="384048" cy="164592"/>
          </a:xfrm>
          <a:prstGeom prst="rect">
            <a:avLst/>
          </a:prstGeom>
          <a:noFill/>
        </p:spPr>
        <p:txBody>
          <a:bodyPr wrap="square" lIns="45720" rIns="45720" anchor="t">
            <a:spAutoFit/>
          </a:bodyPr>
          <a:lstStyle/>
          <a:p>
            <a:pPr algn="ctr"/>
            <a:r>
              <a:rPr sz="1100" b="1">
                <a:solidFill>
                  <a:srgbClr val="1B2A4A"/>
                </a:solidFill>
                <a:latin typeface="Aptos"/>
              </a:rPr>
              <a:t>3</a:t>
            </a:r>
          </a:p>
        </p:txBody>
      </p:sp>
      <p:sp>
        <p:nvSpPr>
          <p:cNvPr id="24" name="TextBox 23"/>
          <p:cNvSpPr txBox="1"/>
          <p:nvPr/>
        </p:nvSpPr>
        <p:spPr>
          <a:xfrm>
            <a:off x="5074920" y="4151375"/>
            <a:ext cx="2468880" cy="228600"/>
          </a:xfrm>
          <a:prstGeom prst="rect">
            <a:avLst/>
          </a:prstGeom>
          <a:noFill/>
        </p:spPr>
        <p:txBody>
          <a:bodyPr wrap="square" lIns="45720" rIns="45720" anchor="t">
            <a:spAutoFit/>
          </a:bodyPr>
          <a:lstStyle/>
          <a:p>
            <a:pPr algn="l"/>
            <a:r>
              <a:rPr sz="1600" b="1">
                <a:solidFill>
                  <a:srgbClr val="1B2A4A"/>
                </a:solidFill>
                <a:latin typeface="Aptos"/>
              </a:rPr>
              <a:t>주간 운영 체계</a:t>
            </a:r>
          </a:p>
        </p:txBody>
      </p:sp>
      <p:sp>
        <p:nvSpPr>
          <p:cNvPr id="25" name="TextBox 24"/>
          <p:cNvSpPr txBox="1"/>
          <p:nvPr/>
        </p:nvSpPr>
        <p:spPr>
          <a:xfrm>
            <a:off x="7406640" y="4169663"/>
            <a:ext cx="3474720" cy="228600"/>
          </a:xfrm>
          <a:prstGeom prst="rect">
            <a:avLst/>
          </a:prstGeom>
          <a:noFill/>
        </p:spPr>
        <p:txBody>
          <a:bodyPr wrap="square" lIns="45720" rIns="45720" anchor="t">
            <a:spAutoFit/>
          </a:bodyPr>
          <a:lstStyle/>
          <a:p>
            <a:pPr algn="l"/>
            <a:r>
              <a:rPr sz="1200" b="0">
                <a:solidFill>
                  <a:srgbClr val="22222A"/>
                </a:solidFill>
                <a:latin typeface="Aptos"/>
              </a:rPr>
              <a:t>매출 기준·재고 회전 단일 대시보드</a:t>
            </a:r>
          </a:p>
        </p:txBody>
      </p:sp>
      <p:sp>
        <p:nvSpPr>
          <p:cNvPr id="26" name="TextBox 25"/>
          <p:cNvSpPr txBox="1"/>
          <p:nvPr/>
        </p:nvSpPr>
        <p:spPr>
          <a:xfrm>
            <a:off x="521207" y="6473952"/>
            <a:ext cx="3657600" cy="164592"/>
          </a:xfrm>
          <a:prstGeom prst="rect">
            <a:avLst/>
          </a:prstGeom>
          <a:noFill/>
        </p:spPr>
        <p:txBody>
          <a:bodyPr wrap="square" lIns="45720" rIns="45720" anchor="t">
            <a:spAutoFit/>
          </a:bodyPr>
          <a:lstStyle/>
          <a:p>
            <a:pPr algn="l"/>
            <a:r>
              <a:rPr sz="800" b="1">
                <a:solidFill>
                  <a:srgbClr val="7C93B8"/>
                </a:solidFill>
                <a:latin typeface="Aptos"/>
              </a:rPr>
              <a:t>AURORA KIT  |  출시 6주 성과</a:t>
            </a:r>
          </a:p>
        </p:txBody>
      </p:sp>
      <p:sp>
        <p:nvSpPr>
          <p:cNvPr id="27" name="TextBox 26"/>
          <p:cNvSpPr txBox="1"/>
          <p:nvPr/>
        </p:nvSpPr>
        <p:spPr>
          <a:xfrm>
            <a:off x="10744200" y="6473952"/>
            <a:ext cx="822960" cy="164592"/>
          </a:xfrm>
          <a:prstGeom prst="rect">
            <a:avLst/>
          </a:prstGeom>
          <a:noFill/>
        </p:spPr>
        <p:txBody>
          <a:bodyPr wrap="square" lIns="45720" rIns="45720" anchor="t">
            <a:spAutoFit/>
          </a:bodyPr>
          <a:lstStyle/>
          <a:p>
            <a:pPr algn="r"/>
            <a:r>
              <a:rPr sz="800" b="1">
                <a:solidFill>
                  <a:srgbClr val="7C93B8"/>
                </a:solidFill>
                <a:latin typeface="Aptos"/>
              </a:rPr>
              <a:t>8 / 09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0312" cy="6858000"/>
          </a:xfrm>
          <a:prstGeom prst="rect">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731520"/>
            <a:ext cx="2286000" cy="274320"/>
          </a:xfrm>
          <a:prstGeom prst="rect">
            <a:avLst/>
          </a:prstGeom>
          <a:noFill/>
        </p:spPr>
        <p:txBody>
          <a:bodyPr wrap="square" lIns="45720" rIns="45720" anchor="t">
            <a:spAutoFit/>
          </a:bodyPr>
          <a:lstStyle/>
          <a:p>
            <a:pPr algn="l"/>
            <a:r>
              <a:rPr sz="1300" b="1">
                <a:solidFill>
                  <a:srgbClr val="F5A623"/>
                </a:solidFill>
                <a:latin typeface="Aptos"/>
              </a:rPr>
              <a:t>AURORA KIT</a:t>
            </a:r>
          </a:p>
        </p:txBody>
      </p:sp>
      <p:sp>
        <p:nvSpPr>
          <p:cNvPr id="5" name="TextBox 4"/>
          <p:cNvSpPr txBox="1"/>
          <p:nvPr/>
        </p:nvSpPr>
        <p:spPr>
          <a:xfrm>
            <a:off x="685800" y="1325880"/>
            <a:ext cx="8229600" cy="1280160"/>
          </a:xfrm>
          <a:prstGeom prst="rect">
            <a:avLst/>
          </a:prstGeom>
          <a:noFill/>
        </p:spPr>
        <p:txBody>
          <a:bodyPr wrap="square" lIns="45720" rIns="45720" anchor="t">
            <a:spAutoFit/>
          </a:bodyPr>
          <a:lstStyle/>
          <a:p>
            <a:pPr algn="l"/>
            <a:r>
              <a:rPr sz="3400" b="1">
                <a:solidFill>
                  <a:srgbClr val="FFFFFF"/>
                </a:solidFill>
                <a:latin typeface="Aptos"/>
              </a:rPr>
              <a:t>강한 초기 수요를
선택과 집중의 성장으로.</a:t>
            </a:r>
          </a:p>
        </p:txBody>
      </p:sp>
      <p:sp>
        <p:nvSpPr>
          <p:cNvPr id="6" name="Rectangle 5"/>
          <p:cNvSpPr/>
          <p:nvPr/>
        </p:nvSpPr>
        <p:spPr>
          <a:xfrm>
            <a:off x="713232" y="3035808"/>
            <a:ext cx="1554480" cy="45720"/>
          </a:xfrm>
          <a:prstGeom prst="rect">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3657600"/>
            <a:ext cx="1097280" cy="228600"/>
          </a:xfrm>
          <a:prstGeom prst="rect">
            <a:avLst/>
          </a:prstGeom>
          <a:noFill/>
        </p:spPr>
        <p:txBody>
          <a:bodyPr wrap="square" lIns="45720" rIns="45720" anchor="t">
            <a:spAutoFit/>
          </a:bodyPr>
          <a:lstStyle/>
          <a:p>
            <a:pPr algn="l"/>
            <a:r>
              <a:rPr sz="1200" b="1">
                <a:solidFill>
                  <a:srgbClr val="F5A623"/>
                </a:solidFill>
                <a:latin typeface="Aptos"/>
              </a:rPr>
              <a:t>오늘의 결정</a:t>
            </a:r>
          </a:p>
        </p:txBody>
      </p:sp>
      <p:sp>
        <p:nvSpPr>
          <p:cNvPr id="8" name="TextBox 7"/>
          <p:cNvSpPr txBox="1"/>
          <p:nvPr/>
        </p:nvSpPr>
        <p:spPr>
          <a:xfrm>
            <a:off x="713232" y="4023360"/>
            <a:ext cx="10424160" cy="310896"/>
          </a:xfrm>
          <a:prstGeom prst="rect">
            <a:avLst/>
          </a:prstGeom>
          <a:noFill/>
        </p:spPr>
        <p:txBody>
          <a:bodyPr wrap="square" lIns="45720" rIns="45720" anchor="t">
            <a:spAutoFit/>
          </a:bodyPr>
          <a:lstStyle/>
          <a:p>
            <a:pPr algn="l"/>
            <a:r>
              <a:rPr sz="1900" b="1">
                <a:solidFill>
                  <a:srgbClr val="FFFFFF"/>
                </a:solidFill>
                <a:latin typeface="Aptos"/>
              </a:rPr>
              <a:t>다음 분기 8억 원 승인 · 고효율 채널 우선 재배분 · 데이터 기준 정렬</a:t>
            </a:r>
          </a:p>
        </p:txBody>
      </p:sp>
      <p:sp>
        <p:nvSpPr>
          <p:cNvPr id="9" name="TextBox 8"/>
          <p:cNvSpPr txBox="1"/>
          <p:nvPr/>
        </p:nvSpPr>
        <p:spPr>
          <a:xfrm>
            <a:off x="713232" y="5943600"/>
            <a:ext cx="1828800" cy="256032"/>
          </a:xfrm>
          <a:prstGeom prst="rect">
            <a:avLst/>
          </a:prstGeom>
          <a:noFill/>
        </p:spPr>
        <p:txBody>
          <a:bodyPr wrap="square" lIns="45720" rIns="45720" anchor="t">
            <a:spAutoFit/>
          </a:bodyPr>
          <a:lstStyle/>
          <a:p>
            <a:pPr algn="l"/>
            <a:r>
              <a:rPr sz="1400" b="1">
                <a:solidFill>
                  <a:srgbClr val="7C93B8"/>
                </a:solidFill>
                <a:latin typeface="Aptos"/>
              </a:rPr>
              <a:t>감사합니다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