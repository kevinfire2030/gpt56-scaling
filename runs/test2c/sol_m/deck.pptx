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Aurora Kit 출시 후 6주 성과와 다음 분기 실행 결정을 보고드립니다. 핵심은 초기 수요는 기대 이상이지만 채널별 수익성과 재고 회전 편차를 줄여야 한다는 점입니다. 10분 안에 성과, 리스크, 요청 의사결정을 순서대로 말씀드리겠습니다. (약 45초)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보고는 세 부분입니다. 먼저 판매와 퍼널 성과를 확인하고, 채널 편차와 매출 수치 불일치를 리스크로 정리합니다. 마지막으로 다음 분기 8억 원 예산과 고효율 채널 중심 재배분 원칙을 요청드립니다. (약 45초)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6주 누적 판매는 12,400대로 목표를 18% 초과했습니다. 웹사이트 방문 대비 구매 전환율은 4.2%입니다. 초기 시장 반응은 분명히 강합니다. 다만 브리프가 지적하듯 채널별 수익성과 재고 회전 편차가 커, 다음 캠페인은 총량 확대보다 효율 선택이 우선입니다. (약 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지표를 함께 보면 판매량은 목표 대비 18% 상회했고, 구매 전환율은 4.2%, 반품률은 1.9%입니다. 재구매 의향 조사에는 61개 기업 고객이 응답했습니다. 단, 브리프에는 재구매 의향의 긍정 비율이 없어 방향성을 단정하지 않았습니다. 상세 응답 분석을 후속 과제로 두겠습니다. (약 1분 10초)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브리프에는 채널별 수익성과 재고 회전 편차가 크다고 명시되어 있지만 채널별 실제 수치는 없습니다. 따라서 채널명이나 순위를 임의로 만들지 않고, 수익성과 재고 회전의 2축 프레임으로 의사결정 기준을 제안합니다. 두 지표가 모두 높은 채널을 우선 확대하고 나머지는 개선·조건부 운영·축소 검토로 분류합니다. 고객 조사 61개 기업의 상세 긍정률도 확인이 필요합니다. (약 1분 15초)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매출은 영업팀 주간 보고 3억 원과 재무팀 마감 3.4억 원으로 불일치합니다. 두 수치를 모두 보고드리며, 차이 0.4억 원은 검증이 필요합니다. 집계 시점, 취소·반품 반영, 매출 인식 기준을 대조하고 재무를 최종 데이터 오너로 지정하는 안을 제안합니다. 이 검증 전에는 채널 ROI를 확정 수치로 보고하지 않겠습니다. (약 1분 15초)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분기 추가 마케팅 예산 요청액은 8억 원입니다. 집행 비율은 브리프에 없으므로 리스크 통제를 위한 제안 가정으로 70%, 20%, 10%를 제시합니다. 5.6억 원은 고효율 채널 확대, 1.6억 원은 신규·개선 실험, 0.8억 원은 성과 연동 보류입니다. 채널 분류를 먼저 확정하고 주간 게이트를 통과할 때만 확대합니다. (약 1분 20초)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요청드리는 결정은 세 가지입니다. 첫째, 다음 분기 추가 마케팅 예산 8억 원 승인. 둘째, 고효율 채널 중심 재배분 원칙 승인. 셋째, 누적 매출 불일치 검증 오너와 주간 집행 게이트 지정입니다. 승인되면 채널별 4분면 분류와 매출 대사를 먼저 완료하고 단계 집행을 시작하겠습니다. (약 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정리하겠습니다. Aurora Kit는 6주 누적 12,400대로 목표를 18% 초과하며 수요를 입증했습니다. 다음 분기에는 8억 원을 일괄 집행하지 않고, 매출 수치 검증과 채널 분류를 거쳐 고효율 채널 중심으로 단계 집행하겠습니다. 세 가지 의사결정을 부탁드립니다. 감사합니다. (약 40초)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21792" y="1444752"/>
            <a:ext cx="8046720" cy="1024128"/>
          </a:xfrm>
        </p:spPr>
        <p:txBody>
          <a:bodyPr lIns="0" rIns="0" tIns="0" bIns="0" anchor="t"/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FFFFFF"/>
                </a:solidFill>
                <a:latin typeface="맑은 고딕"/>
              </a:rPr>
              <a:t>Aurora Kit</a:t>
            </a:r>
            <a:br/>
            <a:r>
              <a:rPr sz="3100" b="1">
                <a:solidFill>
                  <a:srgbClr val="FFFFFF"/>
                </a:solidFill>
                <a:latin typeface="맑은 고딕"/>
              </a:rPr>
              <a:t>출시 6주 성과 보고</a:t>
            </a:r>
          </a:p>
        </p:txBody>
      </p:sp>
      <p:sp>
        <p:nvSpPr>
          <p:cNvPr id="3" name="Arc 2"/>
          <p:cNvSpPr/>
          <p:nvPr/>
        </p:nvSpPr>
        <p:spPr>
          <a:xfrm rot="1080000">
            <a:off x="8366760" y="-502920"/>
            <a:ext cx="4846320" cy="4846320"/>
          </a:xfrm>
          <a:prstGeom prst="arc">
            <a:avLst/>
          </a:prstGeom>
          <a:noFill/>
          <a:ln w="165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3429000"/>
            <a:ext cx="1234440" cy="1234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4526280"/>
            <a:ext cx="502920" cy="502920"/>
          </a:xfrm>
          <a:prstGeom prst="ellipse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32520" y="48920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475488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B2A4A"/>
                </a:solidFill>
                <a:latin typeface="맑은 고딕"/>
              </a:rPr>
              <a:t>EXECUTIVE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70408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DDE4F0"/>
                </a:solidFill>
                <a:latin typeface="맑은 고딕"/>
              </a:rPr>
              <a:t>강한 초기 수요를 수익성 있는 성장으로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21808"/>
            <a:ext cx="411480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경영진 회의  |  10분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15000"/>
            <a:ext cx="80467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5A623"/>
                </a:solidFill>
                <a:latin typeface="맑은 고딕"/>
              </a:rPr>
              <a:t>의사결정 요청: 2차 캠페인 예산 8억 원 및 채널 재배분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오늘의 논의는 세 가지입니다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01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성과 확인 → 리스크 정리 → 실행 승인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40156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03120"/>
            <a:ext cx="62179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A623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80360"/>
            <a:ext cx="2743200" cy="3931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B2A4A"/>
                </a:solidFill>
                <a:latin typeface="맑은 고딕"/>
              </a:rPr>
              <a:t>출시 성과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74720"/>
            <a:ext cx="2770632" cy="7772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목표 대비 판매와 핵심 퍼널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127248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7C93B8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874519"/>
            <a:ext cx="340156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103120"/>
            <a:ext cx="62179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A623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880360"/>
            <a:ext cx="2743200" cy="3931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B2A4A"/>
                </a:solidFill>
                <a:latin typeface="맑은 고딕"/>
              </a:rPr>
              <a:t>편차와 리스크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474720"/>
            <a:ext cx="2770632" cy="7772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채널·재고·매출 수치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127248"/>
            <a:ext cx="384048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7C93B8"/>
                </a:solidFill>
                <a:latin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874519"/>
            <a:ext cx="340156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103120"/>
            <a:ext cx="621792" cy="4572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A623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880360"/>
            <a:ext cx="2743200" cy="3931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B2A4A"/>
                </a:solidFill>
                <a:latin typeface="맑은 고딕"/>
              </a:rPr>
              <a:t>다음 분기 결정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474720"/>
            <a:ext cx="2770632" cy="7772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8억 원과 재배분 원칙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669280"/>
            <a:ext cx="10927080" cy="484632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결론: 고효율 채널 중심으로 2차 캠페인을 재배분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초기 수요는 강합니다. 이제 효율을 선택할 때입니다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02 /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39112"/>
            <a:ext cx="2843784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5A623"/>
                </a:solidFill>
                <a:latin typeface="맑은 고딕"/>
              </a:rPr>
              <a:t>12,400대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496312"/>
            <a:ext cx="2843784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B2A4A"/>
                </a:solidFill>
                <a:latin typeface="맑은 고딕"/>
              </a:rPr>
              <a:t>6주 누적 판매량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07208"/>
            <a:ext cx="2843784" cy="850391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6472"/>
                </a:solidFill>
                <a:latin typeface="맑은 고딕"/>
              </a:rPr>
              <a:t>핵심 수요 지표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1874519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39112"/>
            <a:ext cx="2843784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+18%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96312"/>
            <a:ext cx="2843784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B2A4A"/>
                </a:solidFill>
                <a:latin typeface="맑은 고딕"/>
              </a:rPr>
              <a:t>목표 대비 판매 초과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07208"/>
            <a:ext cx="2843784" cy="850391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6472"/>
                </a:solidFill>
                <a:latin typeface="맑은 고딕"/>
              </a:rPr>
              <a:t>계획을 상회한 초기 반응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4656" y="1874519"/>
            <a:ext cx="3246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5824" y="2039112"/>
            <a:ext cx="2843784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7C93B8"/>
                </a:solidFill>
                <a:latin typeface="맑은 고딕"/>
              </a:rPr>
              <a:t>4.2%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2496312"/>
            <a:ext cx="2843784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B2A4A"/>
                </a:solidFill>
                <a:latin typeface="맑은 고딕"/>
              </a:rPr>
              <a:t>웹 방문→구매 전환율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2807208"/>
            <a:ext cx="2843784" cy="850391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E6472"/>
                </a:solidFill>
                <a:latin typeface="맑은 고딕"/>
              </a:rPr>
              <a:t>디지털 퍼널 기준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96512"/>
            <a:ext cx="10122408" cy="1325880"/>
          </a:xfrm>
          <a:prstGeom prst="roundRect">
            <a:avLst>
              <a:gd name="adj" fmla="val 8000"/>
            </a:avLst>
          </a:prstGeom>
          <a:solidFill>
            <a:srgbClr val="FFF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43400"/>
            <a:ext cx="169164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B2A4A"/>
                </a:solidFill>
                <a:latin typeface="맑은 고딕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645152"/>
            <a:ext cx="93726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B2A4A"/>
                </a:solidFill>
                <a:latin typeface="맑은 고딕"/>
              </a:rPr>
              <a:t>성장 신호는 확인됐지만, 채널별 수익성과 재고 회전 편차가 다음 성장을 제한합니다.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핵심 지표는 성장과 품질을 함께 지지합니다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03 /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브리프에 제공된 6주 기준 수치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64208"/>
            <a:ext cx="20574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5E6472"/>
                </a:solidFill>
                <a:latin typeface="맑은 고딕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1664208"/>
            <a:ext cx="19659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5E6472"/>
                </a:solidFill>
                <a:latin typeface="맑은 고딕"/>
              </a:rPr>
              <a:t>실적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664208"/>
            <a:ext cx="33375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5E6472"/>
                </a:solidFill>
                <a:latin typeface="맑은 고딕"/>
              </a:rPr>
              <a:t>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45168" y="1664208"/>
            <a:ext cx="138988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5E6472"/>
                </a:solidFill>
                <a:latin typeface="맑은 고딕"/>
              </a:rPr>
              <a:t>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57400"/>
            <a:ext cx="10469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85416"/>
            <a:ext cx="18288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2A4A"/>
                </a:solidFill>
                <a:latin typeface="맑은 고딕"/>
              </a:rPr>
              <a:t>판매량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167128"/>
            <a:ext cx="1920240" cy="4023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5A623"/>
                </a:solidFill>
                <a:latin typeface="맑은 고딕"/>
              </a:rPr>
              <a:t>12,400대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194560"/>
            <a:ext cx="358444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목표 대비 +18%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267712"/>
            <a:ext cx="1353312" cy="310896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상회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469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27248"/>
            <a:ext cx="18288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2A4A"/>
                </a:solidFill>
                <a:latin typeface="맑은 고딕"/>
              </a:rPr>
              <a:t>구매 전환율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108960"/>
            <a:ext cx="1920240" cy="4023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7C93B8"/>
                </a:solidFill>
                <a:latin typeface="맑은 고딕"/>
              </a:rPr>
              <a:t>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36392"/>
            <a:ext cx="358444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웹사이트 방문 대비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209544"/>
            <a:ext cx="1353312" cy="310896"/>
          </a:xfrm>
          <a:prstGeom prst="roundRect">
            <a:avLst>
              <a:gd name="adj" fmla="val 8000"/>
            </a:avLst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관찰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941064"/>
            <a:ext cx="10469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069080"/>
            <a:ext cx="18288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2A4A"/>
                </a:solidFill>
                <a:latin typeface="맑은 고딕"/>
              </a:rPr>
              <a:t>반품률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050792"/>
            <a:ext cx="1920240" cy="4023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E7D6E"/>
                </a:solidFill>
                <a:latin typeface="맑은 고딕"/>
              </a:rPr>
              <a:t>1.9%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078224"/>
            <a:ext cx="358444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출시 6주 기준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151376"/>
            <a:ext cx="1353312" cy="310896"/>
          </a:xfrm>
          <a:prstGeom prst="roundRect">
            <a:avLst>
              <a:gd name="adj" fmla="val 8000"/>
            </a:avLst>
          </a:prstGeom>
          <a:solidFill>
            <a:srgbClr val="2E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낮은 마찰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882896"/>
            <a:ext cx="10469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010912"/>
            <a:ext cx="182880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2A4A"/>
                </a:solidFill>
                <a:latin typeface="맑은 고딕"/>
              </a:rPr>
              <a:t>고객 조사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4992624"/>
            <a:ext cx="1920240" cy="4023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B2A4A"/>
                </a:solidFill>
                <a:latin typeface="맑은 고딕"/>
              </a:rPr>
              <a:t>61개 기업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5020056"/>
            <a:ext cx="3584448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재구매 의향 조사 응답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5093208"/>
            <a:ext cx="1353312" cy="310896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신호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5989320"/>
            <a:ext cx="493776" cy="2377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5A623"/>
                </a:solidFill>
                <a:latin typeface="맑은 고딕"/>
              </a:rPr>
              <a:t>해석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6" y="5916168"/>
            <a:ext cx="990295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A"/>
                </a:solidFill>
                <a:latin typeface="맑은 고딕"/>
              </a:rPr>
              <a:t>판매 초과와 낮은 반품률은 긍정적입니다. 고객 반응의 방향성은 61개 기업 응답의 상세 결과 확인이 필요합니다.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채널은 “확대”보다 “선별”이 우선입니다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04 / CHANNEL &amp;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채널별 실제 수치 미제공 — 아래는 의사결정 프레임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91440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B2A4A"/>
                </a:solidFill>
                <a:latin typeface="맑은 고딕"/>
              </a:rPr>
              <a:t>수익성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5394960"/>
            <a:ext cx="96012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B2A4A"/>
                </a:solidFill>
                <a:latin typeface="맑은 고딕"/>
              </a:rPr>
              <a:t>재고 회전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1938528"/>
            <a:ext cx="4114800" cy="1572768"/>
          </a:xfrm>
          <a:prstGeom prst="rect">
            <a:avLst/>
          </a:prstGeom>
          <a:solidFill>
            <a:srgbClr val="FFF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67528" y="1938528"/>
            <a:ext cx="4114800" cy="15727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7008" y="3557016"/>
            <a:ext cx="4114800" cy="1572768"/>
          </a:xfrm>
          <a:prstGeom prst="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67528" y="3557016"/>
            <a:ext cx="4114800" cy="1572768"/>
          </a:xfrm>
          <a:prstGeom prst="rect">
            <a:avLst/>
          </a:prstGeom>
          <a:solidFill>
            <a:srgbClr val="DD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240280"/>
            <a:ext cx="3493008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B2A4A"/>
                </a:solidFill>
                <a:latin typeface="맑은 고딕"/>
              </a:rPr>
              <a:t>유지·개선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70048"/>
            <a:ext cx="349300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수익성 높음 / 회전 낮음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240280"/>
            <a:ext cx="3493008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우선 확대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70048"/>
            <a:ext cx="349300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DDE4F0"/>
                </a:solidFill>
                <a:latin typeface="맑은 고딕"/>
              </a:rPr>
              <a:t>수익성 높음 / 회전 높음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58768"/>
            <a:ext cx="3493008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B2A4A"/>
                </a:solidFill>
                <a:latin typeface="맑은 고딕"/>
              </a:rPr>
              <a:t>축소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88536"/>
            <a:ext cx="349300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수익성 낮음 / 회전 낮음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858768"/>
            <a:ext cx="3493008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B2A4A"/>
                </a:solidFill>
                <a:latin typeface="맑은 고딕"/>
              </a:rPr>
              <a:t>조건부 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88536"/>
            <a:ext cx="349300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수익성 낮음 / 회전 높음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938528"/>
            <a:ext cx="1874519" cy="3191256"/>
          </a:xfrm>
          <a:prstGeom prst="roundRect">
            <a:avLst>
              <a:gd name="adj" fmla="val 8000"/>
            </a:avLst>
          </a:prstGeom>
          <a:solidFill>
            <a:srgbClr val="FAF7F0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2331720"/>
            <a:ext cx="1389888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5A623"/>
                </a:solidFill>
                <a:latin typeface="맑은 고딕"/>
              </a:rP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926080"/>
            <a:ext cx="1389888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B2A4A"/>
                </a:solidFill>
                <a:latin typeface="맑은 고딕"/>
              </a:rPr>
              <a:t>개 기업 고객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3456432"/>
            <a:ext cx="1298448" cy="6400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재구매 의향</a:t>
            </a:r>
            <a:br/>
            <a:r>
              <a:rPr sz="1100" b="0">
                <a:solidFill>
                  <a:srgbClr val="5E6472"/>
                </a:solidFill>
                <a:latin typeface="맑은 고딕"/>
              </a:rPr>
              <a:t>조사 응답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4343400"/>
            <a:ext cx="1298448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B04A4A"/>
                </a:solidFill>
                <a:latin typeface="맑은 고딕"/>
              </a:rPr>
              <a:t>상세 긍정률</a:t>
            </a:r>
            <a:br/>
            <a:r>
              <a:rPr sz="950" b="1">
                <a:solidFill>
                  <a:srgbClr val="B04A4A"/>
                </a:solidFill>
                <a:latin typeface="맑은 고딕"/>
              </a:rPr>
              <a:t>확인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5971032"/>
            <a:ext cx="475488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5A623"/>
                </a:solidFill>
                <a:latin typeface="맑은 고딕"/>
              </a:rPr>
              <a:t>가정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879592"/>
            <a:ext cx="1005840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A"/>
                </a:solidFill>
                <a:latin typeface="맑은 고딕"/>
              </a:rPr>
              <a:t>실제 채널별 수치가 제공되지 않아 채널명·순위를 임의로 만들지 않았습니다. 다음 집행 전 4분면 분류를 완료합니다.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누적 매출 0.4억 원 차이는 “검증 필요”입니다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05 /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영업 주간 보고와 재무 마감 기준이 불일치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4187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57984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영업팀 주간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352044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1B2A4A"/>
                </a:solidFill>
                <a:latin typeface="맑은 고딕"/>
              </a:rPr>
              <a:t>3억 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20440"/>
            <a:ext cx="35204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운영 시점 기준 누적 매출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2552" y="1874519"/>
            <a:ext cx="4187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0296" y="2157984"/>
            <a:ext cx="1353312" cy="310896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재무팀 마감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296" y="2788920"/>
            <a:ext cx="3520440" cy="6583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1B2A4A"/>
                </a:solidFill>
                <a:latin typeface="맑은 고딕"/>
              </a:rPr>
              <a:t>3.4억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520440"/>
            <a:ext cx="352044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마감 기준 누적 매출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670048"/>
            <a:ext cx="914400" cy="5943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5A623"/>
                </a:solidFill>
                <a:latin typeface="맑은 고딕"/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4443984"/>
            <a:ext cx="2414016" cy="758952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B2A4A"/>
                </a:solidFill>
                <a:latin typeface="맑은 고딕"/>
              </a:rPr>
              <a:t>차이 0.4억 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232136" cy="566928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확인 과제  |  집계 시점 · 취소/반품 반영 · 매출 인식 기준 · 데이터 오너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8억 원은 성과 확인 후 단계적으로 집행합니다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06 /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제안 가정: 70% 확대 / 20% 실험 / 10% 보류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947672"/>
            <a:ext cx="619963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57400"/>
            <a:ext cx="5980176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86584"/>
            <a:ext cx="5980176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5.6억 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1152" y="1947672"/>
            <a:ext cx="1773936" cy="96012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57400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86584"/>
            <a:ext cx="155448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1.6억 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59952" y="1947672"/>
            <a:ext cx="886968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667512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B2A4A"/>
                </a:solidFill>
                <a:latin typeface="맑은 고딕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386584"/>
            <a:ext cx="667512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B2A4A"/>
                </a:solidFill>
                <a:latin typeface="맑은 고딕"/>
              </a:rPr>
              <a:t>0.8억 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383280"/>
            <a:ext cx="3383280" cy="1938528"/>
          </a:xfrm>
          <a:prstGeom prst="roundRect">
            <a:avLst>
              <a:gd name="adj" fmla="val 8000"/>
            </a:avLst>
          </a:prstGeom>
          <a:solidFill>
            <a:srgbClr val="FAF7F0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611880"/>
            <a:ext cx="384048" cy="310896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B2A4A"/>
                </a:solidFill>
                <a:latin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5661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2A4A"/>
                </a:solidFill>
                <a:latin typeface="맑은 고딕"/>
              </a:rPr>
              <a:t>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69663"/>
            <a:ext cx="28346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채널별 수익성·재고 회전 4분면 확정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3383280"/>
            <a:ext cx="3383280" cy="1938528"/>
          </a:xfrm>
          <a:prstGeom prst="roundRect">
            <a:avLst>
              <a:gd name="adj" fmla="val 8000"/>
            </a:avLst>
          </a:prstGeom>
          <a:solidFill>
            <a:srgbClr val="FAF7F0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99432" y="3611880"/>
            <a:ext cx="384048" cy="310896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B2A4A"/>
                </a:solidFill>
                <a:latin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5661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2A4A"/>
                </a:solidFill>
                <a:latin typeface="맑은 고딕"/>
              </a:rPr>
              <a:t>집행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169663"/>
            <a:ext cx="28346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고효율군에 70% 우선 배정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3383280"/>
            <a:ext cx="3383280" cy="1938528"/>
          </a:xfrm>
          <a:prstGeom prst="roundRect">
            <a:avLst>
              <a:gd name="adj" fmla="val 8000"/>
            </a:avLst>
          </a:prstGeom>
          <a:solidFill>
            <a:srgbClr val="FAF7F0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02752" y="3611880"/>
            <a:ext cx="384048" cy="310896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B2A4A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566160"/>
            <a:ext cx="2103120" cy="32004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2A4A"/>
                </a:solidFill>
                <a:latin typeface="맑은 고딕"/>
              </a:rPr>
              <a:t>게이트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169663"/>
            <a:ext cx="2834640" cy="7132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E6472"/>
                </a:solidFill>
                <a:latin typeface="맑은 고딕"/>
              </a:rPr>
              <a:t>주간 전환·반품·회전 리뷰 후 확대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779008"/>
            <a:ext cx="475488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5A623"/>
                </a:solidFill>
                <a:latin typeface="맑은 고딕"/>
              </a:rPr>
              <a:t>가정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687568"/>
            <a:ext cx="10058400" cy="4206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22222A"/>
                </a:solidFill>
                <a:latin typeface="맑은 고딕"/>
              </a:rPr>
              <a:t>배분 비율은 브리프 미제공 사항으로, 리스크를 통제하기 위한 제안입니다. 승인 후 실제 채널 데이터로 조정합니다.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B2A4A"/>
                </a:solidFill>
                <a:latin typeface="맑은 고딕"/>
              </a:rPr>
              <a:t>오늘 세 가지 결정을 요청드립니다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07 /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7C9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3832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12264"/>
            <a:ext cx="51206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5A623"/>
                </a:solidFill>
                <a:latin typeface="맑은 고딕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2656" y="2139696"/>
            <a:ext cx="777240" cy="310896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88920"/>
            <a:ext cx="277063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B2A4A"/>
                </a:solidFill>
                <a:latin typeface="맑은 고딕"/>
              </a:rPr>
              <a:t>예산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38144"/>
            <a:ext cx="2788920" cy="8686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A"/>
                </a:solidFill>
                <a:latin typeface="맑은 고딕"/>
              </a:rPr>
              <a:t>다음 분기 추가 마케팅</a:t>
            </a:r>
            <a:br/>
            <a:r>
              <a:rPr sz="1300" b="1">
                <a:solidFill>
                  <a:srgbClr val="22222A"/>
                </a:solidFill>
                <a:latin typeface="맑은 고딕"/>
              </a:rPr>
              <a:t>예산 8억 원 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773168"/>
            <a:ext cx="276148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E7D6E"/>
                </a:solidFill>
                <a:latin typeface="맑은 고딕"/>
              </a:rPr>
              <a:t>결정 시 즉시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874519"/>
            <a:ext cx="33832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112264"/>
            <a:ext cx="51206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5A623"/>
                </a:solidFill>
                <a:latin typeface="맑은 고딕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1696" y="2139696"/>
            <a:ext cx="777240" cy="310896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788920"/>
            <a:ext cx="277063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B2A4A"/>
                </a:solidFill>
                <a:latin typeface="맑은 고딕"/>
              </a:rPr>
              <a:t>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438144"/>
            <a:ext cx="2788920" cy="8686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A"/>
                </a:solidFill>
                <a:latin typeface="맑은 고딕"/>
              </a:rPr>
              <a:t>고효율 채널 중심</a:t>
            </a:r>
            <a:br/>
            <a:r>
              <a:rPr sz="1300" b="1">
                <a:solidFill>
                  <a:srgbClr val="22222A"/>
                </a:solidFill>
                <a:latin typeface="맑은 고딕"/>
              </a:rPr>
              <a:t>재배분 원칙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4773168"/>
            <a:ext cx="276148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E7D6E"/>
                </a:solidFill>
                <a:latin typeface="맑은 고딕"/>
              </a:rPr>
              <a:t>결정 시 즉시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74519"/>
            <a:ext cx="33832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112264"/>
            <a:ext cx="51206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5A623"/>
                </a:solidFill>
                <a:latin typeface="맑은 고딕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736" y="2139696"/>
            <a:ext cx="777240" cy="310896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ASSIGN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788920"/>
            <a:ext cx="2770632" cy="34747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B2A4A"/>
                </a:solidFill>
                <a:latin typeface="맑은 고딕"/>
              </a:rPr>
              <a:t>통제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38144"/>
            <a:ext cx="2788920" cy="8686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222A"/>
                </a:solidFill>
                <a:latin typeface="맑은 고딕"/>
              </a:rPr>
              <a:t>매출 검증 오너와</a:t>
            </a:r>
            <a:br/>
            <a:r>
              <a:rPr sz="1300" b="1">
                <a:solidFill>
                  <a:srgbClr val="22222A"/>
                </a:solidFill>
                <a:latin typeface="맑은 고딕"/>
              </a:rPr>
              <a:t>주간 집행 게이트 지정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773168"/>
            <a:ext cx="2761488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E7D6E"/>
                </a:solidFill>
                <a:latin typeface="맑은 고딕"/>
              </a:rPr>
              <a:t>결정 시 즉시 실행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69864"/>
            <a:ext cx="10881360" cy="438912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B2A4A"/>
                </a:solidFill>
                <a:latin typeface="맑은 고딕"/>
              </a:rPr>
              <a:t>강한 수요를 확인했습니다. 다음 단계는 “더 많이”가 아니라 “더 효율적으로”입니다.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94360" y="566928"/>
            <a:ext cx="10972800" cy="530352"/>
          </a:xfrm>
        </p:spPr>
        <p:txBody>
          <a:bodyPr lIns="0" rIns="0" tIns="0" bIns="0" anchor="ctr"/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수요는 입증됐습니다.</a:t>
            </a:r>
            <a:br/>
            <a:r>
              <a:rPr sz="2500" b="1">
                <a:solidFill>
                  <a:srgbClr val="FFFFFF"/>
                </a:solidFill>
                <a:latin typeface="맑은 고딕"/>
              </a:rPr>
              <a:t>이제 수익성 있는 성장으로 전환하겠습니다.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594360" y="256032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5A623"/>
                </a:solidFill>
                <a:latin typeface="맑은 고딕"/>
              </a:rPr>
              <a:t>08 / 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109728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10881360" cy="20665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41448"/>
            <a:ext cx="10168128" cy="6217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2800" b="1">
                <a:solidFill>
                  <a:srgbClr val="F5A623"/>
                </a:solidFill>
                <a:latin typeface="맑은 고딕"/>
              </a:rPr>
              <a:t>12,400대</a:t>
            </a:r>
            <a:r>
              <a:rPr sz="2400" b="0">
                <a:solidFill>
                  <a:srgbClr val="7C93B8"/>
                </a:solidFill>
                <a:latin typeface="맑은 고딕"/>
              </a:rPr>
              <a:t>  ·  </a:t>
            </a:r>
            <a:r>
              <a:rPr sz="2800" b="1">
                <a:solidFill>
                  <a:srgbClr val="1B2A4A"/>
                </a:solidFill>
                <a:latin typeface="맑은 고딕"/>
              </a:rPr>
              <a:t>+18%</a:t>
            </a:r>
            <a:r>
              <a:rPr sz="2400" b="0">
                <a:solidFill>
                  <a:srgbClr val="7C93B8"/>
                </a:solidFill>
                <a:latin typeface="맑은 고딕"/>
              </a:rPr>
              <a:t>  ·  </a:t>
            </a:r>
            <a:r>
              <a:rPr sz="2800" b="1">
                <a:solidFill>
                  <a:srgbClr val="1B2A4A"/>
                </a:solidFill>
                <a:latin typeface="맑은 고딕"/>
              </a:rPr>
              <a:t>8억 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16812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E6472"/>
                </a:solidFill>
                <a:latin typeface="맑은 고딕"/>
              </a:rPr>
              <a:t>6주 누적 판매  ·  목표 초과  ·  다음 분기 요청 예산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800600"/>
            <a:ext cx="1029614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의사결정 후 첫 실행: 매출 수치 검증 → 채널 4분면 확정 → 단계 집행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5650992"/>
            <a:ext cx="1920240" cy="310896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B2A4A"/>
                </a:solidFill>
                <a:latin typeface="맑은 고딕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519672"/>
            <a:ext cx="5120640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472"/>
                </a:solidFill>
                <a:latin typeface="맑은 고딕"/>
              </a:rPr>
              <a:t>출처: brief.md | 출시 후 6주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473952"/>
            <a:ext cx="438912" cy="2103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7C93B8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Kit 출시 6주 성과 보고</dc:title>
  <dc:subject>경영진 10분 보고 — 성과, 리스크, 다음 분기 의사결정</dc:subject>
  <dc:creator>경영진 보고 자료</dc:creator>
  <cp:keywords/>
  <dc:description>brief.md 기반. 채널별 실제 수치와 예산 배분 비율의 가정은 슬라이드에 명시.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